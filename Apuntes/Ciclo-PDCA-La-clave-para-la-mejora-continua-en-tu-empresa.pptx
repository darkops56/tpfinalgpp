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8470900" cx="11430000"/>
  <p:notesSz cx="11430000" cy="84709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62">
          <p15:clr>
            <a:srgbClr val="A4A3A4"/>
          </p15:clr>
        </p15:guide>
        <p15:guide id="2" pos="2164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2mh6Z80he4nmabEDKIhIc1xg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62" orient="horz"/>
        <p:guide pos="216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75" y="635300"/>
            <a:ext cx="7620375" cy="3176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143000" y="4023675"/>
            <a:ext cx="9144000" cy="38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1143000" y="4023675"/>
            <a:ext cx="9144000" cy="3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1905375" y="635300"/>
            <a:ext cx="7620375" cy="3176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1143000" y="4023675"/>
            <a:ext cx="9144000" cy="3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1905375" y="635300"/>
            <a:ext cx="7620375" cy="3176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1143000" y="4023675"/>
            <a:ext cx="9144000" cy="3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1905375" y="635300"/>
            <a:ext cx="7620375" cy="3176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1143000" y="4023675"/>
            <a:ext cx="9144000" cy="3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1905375" y="635300"/>
            <a:ext cx="7620375" cy="3176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1143000" y="4023675"/>
            <a:ext cx="9144000" cy="3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1905375" y="635300"/>
            <a:ext cx="7620375" cy="3176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1143000" y="4023675"/>
            <a:ext cx="9144000" cy="3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1905375" y="635300"/>
            <a:ext cx="7620375" cy="3176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1143000" y="4023675"/>
            <a:ext cx="9144000" cy="3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905375" y="635300"/>
            <a:ext cx="7620375" cy="3176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1143000" y="4023675"/>
            <a:ext cx="9144000" cy="3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905375" y="635300"/>
            <a:ext cx="7620375" cy="3176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1143000" y="4023675"/>
            <a:ext cx="9144000" cy="3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905375" y="635300"/>
            <a:ext cx="7620375" cy="3176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1143000" y="4023675"/>
            <a:ext cx="9144000" cy="38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905375" y="635300"/>
            <a:ext cx="7620375" cy="3176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/>
          <p:nvPr/>
        </p:nvSpPr>
        <p:spPr>
          <a:xfrm>
            <a:off x="0" y="0"/>
            <a:ext cx="11430000" cy="6438900"/>
          </a:xfrm>
          <a:custGeom>
            <a:rect b="b" l="l" r="r" t="t"/>
            <a:pathLst>
              <a:path extrusionOk="0" h="6438900" w="114300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53"/>
            <a:ext cx="4286250" cy="643864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2"/>
          <p:cNvSpPr txBox="1"/>
          <p:nvPr>
            <p:ph type="title"/>
          </p:nvPr>
        </p:nvSpPr>
        <p:spPr>
          <a:xfrm>
            <a:off x="624879" y="482600"/>
            <a:ext cx="6607809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title"/>
          </p:nvPr>
        </p:nvSpPr>
        <p:spPr>
          <a:xfrm>
            <a:off x="624879" y="482600"/>
            <a:ext cx="6607809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body"/>
          </p:nvPr>
        </p:nvSpPr>
        <p:spPr>
          <a:xfrm>
            <a:off x="4911115" y="3090773"/>
            <a:ext cx="5829934" cy="148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624879" y="482600"/>
            <a:ext cx="6607809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2" type="body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subTitle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/>
          <p:nvPr/>
        </p:nvSpPr>
        <p:spPr>
          <a:xfrm>
            <a:off x="0" y="0"/>
            <a:ext cx="11430000" cy="6438900"/>
          </a:xfrm>
          <a:custGeom>
            <a:rect b="b" l="l" r="r" t="t"/>
            <a:pathLst>
              <a:path extrusionOk="0" h="6438900" w="114300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1"/>
          <p:cNvSpPr txBox="1"/>
          <p:nvPr>
            <p:ph type="title"/>
          </p:nvPr>
        </p:nvSpPr>
        <p:spPr>
          <a:xfrm>
            <a:off x="624879" y="482600"/>
            <a:ext cx="6607809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 u="none" cap="none" strike="noStrike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1"/>
          <p:cNvSpPr txBox="1"/>
          <p:nvPr>
            <p:ph idx="1" type="body"/>
          </p:nvPr>
        </p:nvSpPr>
        <p:spPr>
          <a:xfrm>
            <a:off x="4911115" y="3090773"/>
            <a:ext cx="5829934" cy="148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1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6" name="Google Shape;46;p1"/>
          <p:cNvSpPr txBox="1"/>
          <p:nvPr>
            <p:ph type="title"/>
          </p:nvPr>
        </p:nvSpPr>
        <p:spPr>
          <a:xfrm>
            <a:off x="4911128" y="2397125"/>
            <a:ext cx="5556885" cy="1606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508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Ciclo PDCA: La clave para la mejora continua en tu empresa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1" name="Google Shape;51;p2"/>
          <p:cNvSpPr txBox="1"/>
          <p:nvPr>
            <p:ph type="title"/>
          </p:nvPr>
        </p:nvSpPr>
        <p:spPr>
          <a:xfrm>
            <a:off x="3979024" y="1858962"/>
            <a:ext cx="3472179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/>
              <a:t>Fundamentos del cambio continuo</a:t>
            </a:r>
            <a:endParaRPr sz="1650"/>
          </a:p>
        </p:txBody>
      </p:sp>
      <p:sp>
        <p:nvSpPr>
          <p:cNvPr id="52" name="Google Shape;52;p2"/>
          <p:cNvSpPr txBox="1"/>
          <p:nvPr/>
        </p:nvSpPr>
        <p:spPr>
          <a:xfrm>
            <a:off x="624890" y="2300922"/>
            <a:ext cx="9716770" cy="73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0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rPr>
              <a:t>Origen y significado del ciclo PDCA</a:t>
            </a:r>
            <a:endParaRPr sz="465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38175" y="3333750"/>
            <a:ext cx="409575" cy="419100"/>
          </a:xfrm>
          <a:custGeom>
            <a:rect b="b" l="l" r="r" t="t"/>
            <a:pathLst>
              <a:path extrusionOk="0" h="419100" w="409575">
                <a:moveTo>
                  <a:pt x="389825" y="0"/>
                </a:moveTo>
                <a:lnTo>
                  <a:pt x="19749" y="0"/>
                </a:lnTo>
                <a:lnTo>
                  <a:pt x="16847" y="571"/>
                </a:lnTo>
                <a:lnTo>
                  <a:pt x="0" y="19748"/>
                </a:lnTo>
                <a:lnTo>
                  <a:pt x="0" y="396328"/>
                </a:lnTo>
                <a:lnTo>
                  <a:pt x="0" y="399351"/>
                </a:lnTo>
                <a:lnTo>
                  <a:pt x="19749" y="419100"/>
                </a:lnTo>
                <a:lnTo>
                  <a:pt x="389825" y="419100"/>
                </a:lnTo>
                <a:lnTo>
                  <a:pt x="409575" y="399351"/>
                </a:lnTo>
                <a:lnTo>
                  <a:pt x="409575" y="19748"/>
                </a:lnTo>
                <a:lnTo>
                  <a:pt x="392727" y="571"/>
                </a:lnTo>
                <a:lnTo>
                  <a:pt x="389825" y="0"/>
                </a:lnTo>
                <a:close/>
              </a:path>
            </a:pathLst>
          </a:custGeom>
          <a:solidFill>
            <a:srgbClr val="F3E7D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1216917" y="3338423"/>
            <a:ext cx="2561590" cy="117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508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Creado por Walter Shewhart 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y </a:t>
            </a: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perfeccionado por W. Edwards Deming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, sentando las bases de la gestión de calidad moderna.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095750" y="3333750"/>
            <a:ext cx="409575" cy="419100"/>
          </a:xfrm>
          <a:custGeom>
            <a:rect b="b" l="l" r="r" t="t"/>
            <a:pathLst>
              <a:path extrusionOk="0" h="419100" w="409575">
                <a:moveTo>
                  <a:pt x="389826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396328"/>
                </a:lnTo>
                <a:lnTo>
                  <a:pt x="0" y="399351"/>
                </a:lnTo>
                <a:lnTo>
                  <a:pt x="19748" y="419100"/>
                </a:lnTo>
                <a:lnTo>
                  <a:pt x="389826" y="419100"/>
                </a:lnTo>
                <a:lnTo>
                  <a:pt x="409575" y="399351"/>
                </a:lnTo>
                <a:lnTo>
                  <a:pt x="409575" y="19748"/>
                </a:lnTo>
                <a:lnTo>
                  <a:pt x="392722" y="571"/>
                </a:lnTo>
                <a:lnTo>
                  <a:pt x="389826" y="0"/>
                </a:lnTo>
                <a:close/>
              </a:path>
            </a:pathLst>
          </a:custGeom>
          <a:solidFill>
            <a:srgbClr val="F3E7D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4677765" y="3338423"/>
            <a:ext cx="2609215" cy="117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508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También conocido como </a:t>
            </a: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ciclo Deming o PHVA 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(Planificar-Hacer-Verificar-Actuar), nombres que reflejan sus etapas.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562850" y="3333750"/>
            <a:ext cx="409575" cy="419100"/>
          </a:xfrm>
          <a:custGeom>
            <a:rect b="b" l="l" r="r" t="t"/>
            <a:pathLst>
              <a:path extrusionOk="0" h="419100" w="409575">
                <a:moveTo>
                  <a:pt x="389826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396328"/>
                </a:lnTo>
                <a:lnTo>
                  <a:pt x="0" y="399351"/>
                </a:lnTo>
                <a:lnTo>
                  <a:pt x="19748" y="419100"/>
                </a:lnTo>
                <a:lnTo>
                  <a:pt x="389826" y="419100"/>
                </a:lnTo>
                <a:lnTo>
                  <a:pt x="409575" y="399351"/>
                </a:lnTo>
                <a:lnTo>
                  <a:pt x="409575" y="19748"/>
                </a:lnTo>
                <a:lnTo>
                  <a:pt x="392722" y="571"/>
                </a:lnTo>
                <a:lnTo>
                  <a:pt x="389826" y="0"/>
                </a:lnTo>
                <a:close/>
              </a:path>
            </a:pathLst>
          </a:custGeom>
          <a:solidFill>
            <a:srgbClr val="F3E7D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8138614" y="3338423"/>
            <a:ext cx="2510155" cy="117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508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Es la </a:t>
            </a: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base del método científico 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aplicado a la gestión y mejora constante de cualquier proceso empresarial.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0" y="0"/>
            <a:ext cx="4286250" cy="64389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64" name="Google Shape;64;p3"/>
          <p:cNvSpPr txBox="1"/>
          <p:nvPr>
            <p:ph type="title"/>
          </p:nvPr>
        </p:nvSpPr>
        <p:spPr>
          <a:xfrm>
            <a:off x="624879" y="1463675"/>
            <a:ext cx="4558665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es el ciclo PDCA?</a:t>
            </a:r>
            <a:endParaRPr/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771900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4124325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4476750"/>
            <a:ext cx="66675" cy="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 txBox="1"/>
          <p:nvPr/>
        </p:nvSpPr>
        <p:spPr>
          <a:xfrm>
            <a:off x="624878" y="2233523"/>
            <a:ext cx="5622290" cy="268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marR="508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El ciclo PDCA es una estrategia </a:t>
            </a:r>
            <a:r>
              <a:rPr lang="en-US" sz="1400">
                <a:solidFill>
                  <a:srgbClr val="37502F"/>
                </a:solidFill>
                <a:latin typeface="Trebuchet MS"/>
                <a:ea typeface="Trebuchet MS"/>
                <a:cs typeface="Trebuchet MS"/>
                <a:sym typeface="Trebuchet MS"/>
              </a:rPr>
              <a:t>iterativa y dinámica 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diseñada para resolver problemas complejos y optimizar procesos de forma sistemática. No es un evento puntual, sino un </a:t>
            </a:r>
            <a:r>
              <a:rPr lang="en-US" sz="1400">
                <a:solidFill>
                  <a:srgbClr val="37502F"/>
                </a:solidFill>
                <a:latin typeface="Trebuchet MS"/>
                <a:ea typeface="Trebuchet MS"/>
                <a:cs typeface="Trebuchet MS"/>
                <a:sym typeface="Trebuchet MS"/>
              </a:rPr>
              <a:t>proceso circular y sin fin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, lo que permite a las organizaciones aprender y adaptarse continuamente.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03530" marR="20066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Permite probar hipótesis de mejora en un entorno controlado. Facilita la implementación de soluciones con un riesgo minimizado.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03530" marR="502920" rtl="0" algn="l">
              <a:lnSpc>
                <a:spcPct val="13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Asegura ajustes precisos basados en la retroalimentación de los resultados.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3" name="Google Shape;73;p4"/>
          <p:cNvSpPr txBox="1"/>
          <p:nvPr>
            <p:ph type="title"/>
          </p:nvPr>
        </p:nvSpPr>
        <p:spPr>
          <a:xfrm>
            <a:off x="4732832" y="858837"/>
            <a:ext cx="1964689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/>
              <a:t>El corazón del ciclo</a:t>
            </a:r>
            <a:endParaRPr sz="1650"/>
          </a:p>
        </p:txBody>
      </p:sp>
      <p:sp>
        <p:nvSpPr>
          <p:cNvPr id="74" name="Google Shape;74;p4"/>
          <p:cNvSpPr txBox="1"/>
          <p:nvPr/>
        </p:nvSpPr>
        <p:spPr>
          <a:xfrm>
            <a:off x="624878" y="1300797"/>
            <a:ext cx="7347584" cy="73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0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rPr>
              <a:t>Los 4 pasos del ciclo PDCA</a:t>
            </a:r>
            <a:endParaRPr sz="465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38175" y="2333624"/>
            <a:ext cx="10153650" cy="3228975"/>
          </a:xfrm>
          <a:custGeom>
            <a:rect b="b" l="l" r="r" t="t"/>
            <a:pathLst>
              <a:path extrusionOk="0" h="3228975" w="10153650">
                <a:moveTo>
                  <a:pt x="10153650" y="19748"/>
                </a:moveTo>
                <a:lnTo>
                  <a:pt x="10133901" y="0"/>
                </a:lnTo>
                <a:lnTo>
                  <a:pt x="5076825" y="0"/>
                </a:lnTo>
                <a:lnTo>
                  <a:pt x="19748" y="0"/>
                </a:lnTo>
                <a:lnTo>
                  <a:pt x="0" y="19748"/>
                </a:lnTo>
                <a:lnTo>
                  <a:pt x="0" y="1619250"/>
                </a:lnTo>
                <a:lnTo>
                  <a:pt x="0" y="3206216"/>
                </a:lnTo>
                <a:lnTo>
                  <a:pt x="0" y="3209226"/>
                </a:lnTo>
                <a:lnTo>
                  <a:pt x="571" y="3212134"/>
                </a:lnTo>
                <a:lnTo>
                  <a:pt x="19748" y="3228975"/>
                </a:lnTo>
                <a:lnTo>
                  <a:pt x="10133901" y="3228975"/>
                </a:lnTo>
                <a:lnTo>
                  <a:pt x="10153650" y="3209226"/>
                </a:lnTo>
                <a:lnTo>
                  <a:pt x="10153650" y="19748"/>
                </a:lnTo>
                <a:close/>
              </a:path>
            </a:pathLst>
          </a:custGeom>
          <a:solidFill>
            <a:srgbClr val="F3E7D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807045" y="2497137"/>
            <a:ext cx="427482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A362F"/>
                </a:solidFill>
                <a:latin typeface="Cambria"/>
                <a:ea typeface="Cambria"/>
                <a:cs typeface="Cambria"/>
                <a:sym typeface="Cambria"/>
              </a:rPr>
              <a:t>Planificar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4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Definir objetivos claros y elaborar un plan de acción detallado, anticipando resultados y recursos necesarios.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7" name="Google Shape;77;p4"/>
          <p:cNvGrpSpPr/>
          <p:nvPr/>
        </p:nvGrpSpPr>
        <p:grpSpPr>
          <a:xfrm>
            <a:off x="5715000" y="2333624"/>
            <a:ext cx="5076825" cy="1619250"/>
            <a:chOff x="5715000" y="2333624"/>
            <a:chExt cx="5076825" cy="1619250"/>
          </a:xfrm>
        </p:grpSpPr>
        <p:sp>
          <p:nvSpPr>
            <p:cNvPr id="78" name="Google Shape;78;p4"/>
            <p:cNvSpPr/>
            <p:nvPr/>
          </p:nvSpPr>
          <p:spPr>
            <a:xfrm>
              <a:off x="5715000" y="2333624"/>
              <a:ext cx="5076825" cy="1619250"/>
            </a:xfrm>
            <a:custGeom>
              <a:rect b="b" l="l" r="r" t="t"/>
              <a:pathLst>
                <a:path extrusionOk="0" h="1619250" w="5076825">
                  <a:moveTo>
                    <a:pt x="5057076" y="0"/>
                  </a:moveTo>
                  <a:lnTo>
                    <a:pt x="0" y="0"/>
                  </a:lnTo>
                  <a:lnTo>
                    <a:pt x="0" y="1619250"/>
                  </a:lnTo>
                  <a:lnTo>
                    <a:pt x="5076825" y="1619250"/>
                  </a:lnTo>
                  <a:lnTo>
                    <a:pt x="5076825" y="19748"/>
                  </a:lnTo>
                  <a:lnTo>
                    <a:pt x="5057076" y="0"/>
                  </a:lnTo>
                  <a:close/>
                </a:path>
              </a:pathLst>
            </a:custGeom>
            <a:solidFill>
              <a:srgbClr val="F3E7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5715000" y="2333624"/>
              <a:ext cx="19050" cy="1619250"/>
            </a:xfrm>
            <a:custGeom>
              <a:rect b="b" l="l" r="r" t="t"/>
              <a:pathLst>
                <a:path extrusionOk="0" h="1619250" w="19050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1609725"/>
                  </a:lnTo>
                  <a:lnTo>
                    <a:pt x="0" y="1612353"/>
                  </a:lnTo>
                  <a:lnTo>
                    <a:pt x="927" y="1614601"/>
                  </a:lnTo>
                  <a:lnTo>
                    <a:pt x="4648" y="1618322"/>
                  </a:lnTo>
                  <a:lnTo>
                    <a:pt x="6896" y="1619250"/>
                  </a:lnTo>
                  <a:lnTo>
                    <a:pt x="12153" y="1619250"/>
                  </a:lnTo>
                  <a:lnTo>
                    <a:pt x="14401" y="1618322"/>
                  </a:lnTo>
                  <a:lnTo>
                    <a:pt x="18122" y="1614601"/>
                  </a:lnTo>
                  <a:lnTo>
                    <a:pt x="19050" y="1612353"/>
                  </a:lnTo>
                  <a:lnTo>
                    <a:pt x="19050" y="6896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D9CD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4"/>
          <p:cNvSpPr txBox="1"/>
          <p:nvPr/>
        </p:nvSpPr>
        <p:spPr>
          <a:xfrm>
            <a:off x="6157709" y="2497137"/>
            <a:ext cx="420624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A362F"/>
                </a:solidFill>
                <a:latin typeface="Cambria"/>
                <a:ea typeface="Cambria"/>
                <a:cs typeface="Cambria"/>
                <a:sym typeface="Cambria"/>
              </a:rPr>
              <a:t>Hacer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6000"/>
              </a:lnSpc>
              <a:spcBef>
                <a:spcPts val="59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Ejecutar el plan a pequeña escala, documentando cada paso y recopilando datos relevantes para el análisis posterior.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81" name="Google Shape;81;p4"/>
          <p:cNvGrpSpPr/>
          <p:nvPr/>
        </p:nvGrpSpPr>
        <p:grpSpPr>
          <a:xfrm>
            <a:off x="638175" y="3952875"/>
            <a:ext cx="5076825" cy="1609725"/>
            <a:chOff x="638175" y="3952875"/>
            <a:chExt cx="5076825" cy="1609725"/>
          </a:xfrm>
        </p:grpSpPr>
        <p:sp>
          <p:nvSpPr>
            <p:cNvPr id="82" name="Google Shape;82;p4"/>
            <p:cNvSpPr/>
            <p:nvPr/>
          </p:nvSpPr>
          <p:spPr>
            <a:xfrm>
              <a:off x="638175" y="3952875"/>
              <a:ext cx="5076825" cy="1609725"/>
            </a:xfrm>
            <a:custGeom>
              <a:rect b="b" l="l" r="r" t="t"/>
              <a:pathLst>
                <a:path extrusionOk="0" h="1609725" w="5076825">
                  <a:moveTo>
                    <a:pt x="5076825" y="0"/>
                  </a:moveTo>
                  <a:lnTo>
                    <a:pt x="0" y="0"/>
                  </a:lnTo>
                  <a:lnTo>
                    <a:pt x="0" y="1586955"/>
                  </a:lnTo>
                  <a:lnTo>
                    <a:pt x="0" y="1589971"/>
                  </a:lnTo>
                  <a:lnTo>
                    <a:pt x="5076825" y="1609726"/>
                  </a:lnTo>
                  <a:lnTo>
                    <a:pt x="5076825" y="0"/>
                  </a:lnTo>
                  <a:close/>
                </a:path>
              </a:pathLst>
            </a:custGeom>
            <a:solidFill>
              <a:srgbClr val="F3E7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638175" y="3952875"/>
              <a:ext cx="5076825" cy="19050"/>
            </a:xfrm>
            <a:custGeom>
              <a:rect b="b" l="l" r="r" t="t"/>
              <a:pathLst>
                <a:path extrusionOk="0" h="19050" w="5076825">
                  <a:moveTo>
                    <a:pt x="506992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069928" y="19050"/>
                  </a:lnTo>
                  <a:lnTo>
                    <a:pt x="5072176" y="18122"/>
                  </a:lnTo>
                  <a:lnTo>
                    <a:pt x="5075897" y="14401"/>
                  </a:lnTo>
                  <a:lnTo>
                    <a:pt x="5076825" y="12153"/>
                  </a:lnTo>
                  <a:lnTo>
                    <a:pt x="5076825" y="6896"/>
                  </a:lnTo>
                  <a:lnTo>
                    <a:pt x="5075897" y="4648"/>
                  </a:lnTo>
                  <a:lnTo>
                    <a:pt x="5072176" y="927"/>
                  </a:lnTo>
                  <a:lnTo>
                    <a:pt x="5069928" y="0"/>
                  </a:lnTo>
                  <a:close/>
                </a:path>
              </a:pathLst>
            </a:custGeom>
            <a:solidFill>
              <a:srgbClr val="D9CD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4"/>
          <p:cNvSpPr txBox="1"/>
          <p:nvPr/>
        </p:nvSpPr>
        <p:spPr>
          <a:xfrm>
            <a:off x="806617" y="4116387"/>
            <a:ext cx="403732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A362F"/>
                </a:solidFill>
                <a:latin typeface="Cambria"/>
                <a:ea typeface="Cambria"/>
                <a:cs typeface="Cambria"/>
                <a:sym typeface="Cambria"/>
              </a:rPr>
              <a:t>Verificar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8000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Analizar los datos recogidos, comparar los resultados obtenidos con los objetivos planteados y evaluar la eficacia del plan.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85" name="Google Shape;85;p4"/>
          <p:cNvGrpSpPr/>
          <p:nvPr/>
        </p:nvGrpSpPr>
        <p:grpSpPr>
          <a:xfrm>
            <a:off x="5715000" y="3952874"/>
            <a:ext cx="5076825" cy="1609726"/>
            <a:chOff x="5715000" y="3952874"/>
            <a:chExt cx="5076825" cy="1609726"/>
          </a:xfrm>
        </p:grpSpPr>
        <p:sp>
          <p:nvSpPr>
            <p:cNvPr id="86" name="Google Shape;86;p4"/>
            <p:cNvSpPr/>
            <p:nvPr/>
          </p:nvSpPr>
          <p:spPr>
            <a:xfrm>
              <a:off x="5715000" y="3952875"/>
              <a:ext cx="5076825" cy="1609725"/>
            </a:xfrm>
            <a:custGeom>
              <a:rect b="b" l="l" r="r" t="t"/>
              <a:pathLst>
                <a:path extrusionOk="0" h="1609725" w="5076825">
                  <a:moveTo>
                    <a:pt x="5076825" y="0"/>
                  </a:moveTo>
                  <a:lnTo>
                    <a:pt x="0" y="0"/>
                  </a:lnTo>
                  <a:lnTo>
                    <a:pt x="0" y="1609726"/>
                  </a:lnTo>
                  <a:lnTo>
                    <a:pt x="5057076" y="1609721"/>
                  </a:lnTo>
                  <a:lnTo>
                    <a:pt x="5076825" y="1589971"/>
                  </a:lnTo>
                  <a:lnTo>
                    <a:pt x="5076825" y="0"/>
                  </a:lnTo>
                  <a:close/>
                </a:path>
              </a:pathLst>
            </a:custGeom>
            <a:solidFill>
              <a:srgbClr val="F3E7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5715000" y="3952874"/>
              <a:ext cx="5076825" cy="1609725"/>
            </a:xfrm>
            <a:custGeom>
              <a:rect b="b" l="l" r="r" t="t"/>
              <a:pathLst>
                <a:path extrusionOk="0" h="1609725" w="5076825">
                  <a:moveTo>
                    <a:pt x="5076825" y="6896"/>
                  </a:moveTo>
                  <a:lnTo>
                    <a:pt x="5075898" y="4648"/>
                  </a:lnTo>
                  <a:lnTo>
                    <a:pt x="5072177" y="927"/>
                  </a:lnTo>
                  <a:lnTo>
                    <a:pt x="5069929" y="0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14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0" y="1600212"/>
                  </a:lnTo>
                  <a:lnTo>
                    <a:pt x="0" y="1602841"/>
                  </a:lnTo>
                  <a:lnTo>
                    <a:pt x="914" y="1605076"/>
                  </a:lnTo>
                  <a:lnTo>
                    <a:pt x="4648" y="1608797"/>
                  </a:lnTo>
                  <a:lnTo>
                    <a:pt x="6896" y="1609725"/>
                  </a:lnTo>
                  <a:lnTo>
                    <a:pt x="12153" y="1609725"/>
                  </a:lnTo>
                  <a:lnTo>
                    <a:pt x="14401" y="1608797"/>
                  </a:lnTo>
                  <a:lnTo>
                    <a:pt x="18122" y="1605076"/>
                  </a:lnTo>
                  <a:lnTo>
                    <a:pt x="19050" y="1602841"/>
                  </a:lnTo>
                  <a:lnTo>
                    <a:pt x="19050" y="19050"/>
                  </a:lnTo>
                  <a:lnTo>
                    <a:pt x="5069929" y="19050"/>
                  </a:lnTo>
                  <a:lnTo>
                    <a:pt x="5072177" y="18122"/>
                  </a:lnTo>
                  <a:lnTo>
                    <a:pt x="5075898" y="14401"/>
                  </a:lnTo>
                  <a:lnTo>
                    <a:pt x="5076825" y="12153"/>
                  </a:lnTo>
                  <a:lnTo>
                    <a:pt x="5076825" y="6896"/>
                  </a:lnTo>
                  <a:close/>
                </a:path>
              </a:pathLst>
            </a:custGeom>
            <a:solidFill>
              <a:srgbClr val="D9CD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/>
        </p:nvSpPr>
        <p:spPr>
          <a:xfrm>
            <a:off x="6157277" y="4116387"/>
            <a:ext cx="434276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A362F"/>
                </a:solidFill>
                <a:latin typeface="Cambria"/>
                <a:ea typeface="Cambria"/>
                <a:cs typeface="Cambria"/>
                <a:sym typeface="Cambria"/>
              </a:rPr>
              <a:t>Actuar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8000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Implementar las mejoras a gran escala si son exitosas, estandarizar el proceso o corregir desviaciones y reiniciar el ciclo.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89" name="Google Shape;89;p4"/>
          <p:cNvGrpSpPr/>
          <p:nvPr/>
        </p:nvGrpSpPr>
        <p:grpSpPr>
          <a:xfrm>
            <a:off x="5486400" y="2915538"/>
            <a:ext cx="457200" cy="2066925"/>
            <a:chOff x="5486400" y="2915538"/>
            <a:chExt cx="457200" cy="2066925"/>
          </a:xfrm>
        </p:grpSpPr>
        <p:pic>
          <p:nvPicPr>
            <p:cNvPr id="90" name="Google Shape;90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86400" y="29155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86400" y="4534788"/>
              <a:ext cx="457200" cy="447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0" y="0"/>
            <a:ext cx="11233785" cy="6440805"/>
          </a:xfrm>
          <a:custGeom>
            <a:rect b="b" l="l" r="r" t="t"/>
            <a:pathLst>
              <a:path extrusionOk="0" h="6440805" w="11233785">
                <a:moveTo>
                  <a:pt x="11233297" y="0"/>
                </a:moveTo>
                <a:lnTo>
                  <a:pt x="0" y="0"/>
                </a:lnTo>
                <a:lnTo>
                  <a:pt x="0" y="6440423"/>
                </a:lnTo>
                <a:lnTo>
                  <a:pt x="11233297" y="6440423"/>
                </a:lnTo>
                <a:lnTo>
                  <a:pt x="11233297" y="0"/>
                </a:lnTo>
                <a:close/>
              </a:path>
            </a:pathLst>
          </a:custGeom>
          <a:solidFill>
            <a:srgbClr val="FEF5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97" name="Google Shape;97;p5"/>
          <p:cNvSpPr txBox="1"/>
          <p:nvPr>
            <p:ph type="title"/>
          </p:nvPr>
        </p:nvSpPr>
        <p:spPr>
          <a:xfrm>
            <a:off x="624879" y="482600"/>
            <a:ext cx="6607809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¿Cuándo usar PDCA?</a:t>
            </a:r>
            <a:endParaRPr sz="3300"/>
          </a:p>
        </p:txBody>
      </p:sp>
      <p:pic>
        <p:nvPicPr>
          <p:cNvPr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275" y="1553939"/>
            <a:ext cx="65527" cy="6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275" y="2190493"/>
            <a:ext cx="65527" cy="6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275" y="2536853"/>
            <a:ext cx="65527" cy="6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275" y="3173406"/>
            <a:ext cx="65527" cy="6552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 txBox="1"/>
          <p:nvPr/>
        </p:nvSpPr>
        <p:spPr>
          <a:xfrm>
            <a:off x="900151" y="1380453"/>
            <a:ext cx="5012690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32385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Para </a:t>
            </a: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simplificar procesos repetitivos 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y optimizar su eficiencia operativa.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Al </a:t>
            </a: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desarrollar nuevos sistemas 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o procesos de negocio desde cero.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36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Para implementar </a:t>
            </a: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mejoras continuas 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y facilitar iteraciones rápidas en cualquier proyecto.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635" lvl="0" marL="12700" marR="455930" rtl="0" algn="l">
              <a:lnSpc>
                <a:spcPct val="136000"/>
              </a:lnSpc>
              <a:spcBef>
                <a:spcPts val="44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Minimizar errores y </a:t>
            </a: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maximizar resultados 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en la ejecución de proyectos complejos.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3" name="Google Shape;10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5535" y="1488412"/>
            <a:ext cx="4249930" cy="4259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08" name="Google Shape;108;p6"/>
          <p:cNvSpPr txBox="1"/>
          <p:nvPr>
            <p:ph type="title"/>
          </p:nvPr>
        </p:nvSpPr>
        <p:spPr>
          <a:xfrm>
            <a:off x="4645177" y="792162"/>
            <a:ext cx="2139950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/>
              <a:t>El ciclo en la práctica</a:t>
            </a:r>
            <a:endParaRPr sz="1650"/>
          </a:p>
        </p:txBody>
      </p:sp>
      <p:sp>
        <p:nvSpPr>
          <p:cNvPr id="109" name="Google Shape;109;p6"/>
          <p:cNvSpPr txBox="1"/>
          <p:nvPr/>
        </p:nvSpPr>
        <p:spPr>
          <a:xfrm>
            <a:off x="624878" y="1234122"/>
            <a:ext cx="9311005" cy="73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0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rPr>
              <a:t>PDCA en acción: ejemplo práctico</a:t>
            </a:r>
            <a:endParaRPr sz="465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624878" y="2439987"/>
            <a:ext cx="2024380" cy="1590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rPr>
              <a:t>El Problema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7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La </a:t>
            </a: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Empresa X 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detectó una baja productividad persistente en su línea de producción principal.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3284143" y="2439987"/>
            <a:ext cx="1814195" cy="187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rPr>
              <a:t>Planificar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6000"/>
              </a:lnSpc>
              <a:spcBef>
                <a:spcPts val="111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El equipo de ingeniería </a:t>
            </a: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planificó ajustes 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en los tiempos de ciclo y la asignación de recursos humanos.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5943396" y="2439987"/>
            <a:ext cx="1792605" cy="187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rPr>
              <a:t>Hacer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6000"/>
              </a:lnSpc>
              <a:spcBef>
                <a:spcPts val="111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Se implementaron los </a:t>
            </a: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cambios piloto 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en una sección específica de la línea, sin interrumpir la operación completa.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8602230" y="2439987"/>
            <a:ext cx="2051050" cy="1590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rPr>
              <a:t>Verificar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7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Tras la implementación, se midieron los resultados, revelando una </a:t>
            </a: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mejora del 15% 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en la productividad.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624452" y="4783137"/>
            <a:ext cx="855472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rPr>
              <a:t>Actuar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El nuevo proceso fue </a:t>
            </a: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estandarizado 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en toda la línea, capacitando a todo el personal para su aplicación continua.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0" y="0"/>
            <a:ext cx="11430000" cy="6438900"/>
          </a:xfrm>
          <a:custGeom>
            <a:rect b="b" l="l" r="r" t="t"/>
            <a:pathLst>
              <a:path extrusionOk="0" h="6438900" w="114300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120" name="Google Shape;120;p7"/>
          <p:cNvSpPr txBox="1"/>
          <p:nvPr>
            <p:ph type="title"/>
          </p:nvPr>
        </p:nvSpPr>
        <p:spPr>
          <a:xfrm>
            <a:off x="624024" y="1006475"/>
            <a:ext cx="4723765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Ventajas del ciclo PDCA</a:t>
            </a:r>
            <a:endParaRPr/>
          </a:p>
        </p:txBody>
      </p:sp>
      <p:grpSp>
        <p:nvGrpSpPr>
          <p:cNvPr id="121" name="Google Shape;121;p7"/>
          <p:cNvGrpSpPr/>
          <p:nvPr/>
        </p:nvGrpSpPr>
        <p:grpSpPr>
          <a:xfrm>
            <a:off x="619125" y="1924049"/>
            <a:ext cx="5000828" cy="1657363"/>
            <a:chOff x="619125" y="1924049"/>
            <a:chExt cx="5000828" cy="1657363"/>
          </a:xfrm>
        </p:grpSpPr>
        <p:sp>
          <p:nvSpPr>
            <p:cNvPr id="122" name="Google Shape;122;p7"/>
            <p:cNvSpPr/>
            <p:nvPr/>
          </p:nvSpPr>
          <p:spPr>
            <a:xfrm>
              <a:off x="638175" y="1933574"/>
              <a:ext cx="4972050" cy="1638300"/>
            </a:xfrm>
            <a:custGeom>
              <a:rect b="b" l="l" r="r" t="t"/>
              <a:pathLst>
                <a:path extrusionOk="0" h="1638300" w="4972050">
                  <a:moveTo>
                    <a:pt x="4960556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571625"/>
                  </a:lnTo>
                  <a:lnTo>
                    <a:pt x="0" y="1576006"/>
                  </a:lnTo>
                  <a:lnTo>
                    <a:pt x="15622" y="1612303"/>
                  </a:lnTo>
                  <a:lnTo>
                    <a:pt x="51663" y="1634896"/>
                  </a:lnTo>
                  <a:lnTo>
                    <a:pt x="71194" y="1638300"/>
                  </a:lnTo>
                  <a:lnTo>
                    <a:pt x="4960556" y="1638300"/>
                  </a:lnTo>
                  <a:lnTo>
                    <a:pt x="4972050" y="1626806"/>
                  </a:lnTo>
                  <a:lnTo>
                    <a:pt x="4972050" y="11493"/>
                  </a:lnTo>
                  <a:lnTo>
                    <a:pt x="4962245" y="330"/>
                  </a:lnTo>
                  <a:lnTo>
                    <a:pt x="4960556" y="0"/>
                  </a:lnTo>
                  <a:close/>
                </a:path>
              </a:pathLst>
            </a:custGeom>
            <a:solidFill>
              <a:srgbClr val="FEF5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39013" y="1924062"/>
              <a:ext cx="4980940" cy="1657350"/>
            </a:xfrm>
            <a:custGeom>
              <a:rect b="b" l="l" r="r" t="t"/>
              <a:pathLst>
                <a:path extrusionOk="0" h="1657350" w="4980940">
                  <a:moveTo>
                    <a:pt x="4980724" y="16484"/>
                  </a:moveTo>
                  <a:lnTo>
                    <a:pt x="4978501" y="11112"/>
                  </a:lnTo>
                  <a:lnTo>
                    <a:pt x="4974526" y="7150"/>
                  </a:lnTo>
                  <a:lnTo>
                    <a:pt x="4974285" y="6896"/>
                  </a:lnTo>
                  <a:lnTo>
                    <a:pt x="4974069" y="6667"/>
                  </a:lnTo>
                  <a:lnTo>
                    <a:pt x="4969611" y="2222"/>
                  </a:lnTo>
                  <a:lnTo>
                    <a:pt x="4964239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60429" y="19050"/>
                  </a:lnTo>
                  <a:lnTo>
                    <a:pt x="4961229" y="19850"/>
                  </a:lnTo>
                  <a:lnTo>
                    <a:pt x="4961674" y="20294"/>
                  </a:lnTo>
                  <a:lnTo>
                    <a:pt x="4961674" y="1637055"/>
                  </a:lnTo>
                  <a:lnTo>
                    <a:pt x="4961052" y="1637677"/>
                  </a:lnTo>
                  <a:lnTo>
                    <a:pt x="4960429" y="1638300"/>
                  </a:lnTo>
                  <a:lnTo>
                    <a:pt x="75349" y="1638300"/>
                  </a:lnTo>
                  <a:lnTo>
                    <a:pt x="33007" y="1628673"/>
                  </a:lnTo>
                  <a:lnTo>
                    <a:pt x="1092" y="1596021"/>
                  </a:lnTo>
                  <a:lnTo>
                    <a:pt x="0" y="1591906"/>
                  </a:lnTo>
                  <a:lnTo>
                    <a:pt x="609" y="1596021"/>
                  </a:lnTo>
                  <a:lnTo>
                    <a:pt x="21475" y="1635036"/>
                  </a:lnTo>
                  <a:lnTo>
                    <a:pt x="60490" y="1655889"/>
                  </a:lnTo>
                  <a:lnTo>
                    <a:pt x="75349" y="1657350"/>
                  </a:lnTo>
                  <a:lnTo>
                    <a:pt x="4964239" y="1657350"/>
                  </a:lnTo>
                  <a:lnTo>
                    <a:pt x="4969611" y="1655127"/>
                  </a:lnTo>
                  <a:lnTo>
                    <a:pt x="4974056" y="1650682"/>
                  </a:lnTo>
                  <a:lnTo>
                    <a:pt x="4974539" y="1650199"/>
                  </a:lnTo>
                  <a:lnTo>
                    <a:pt x="4978501" y="1646237"/>
                  </a:lnTo>
                  <a:lnTo>
                    <a:pt x="4980724" y="1640865"/>
                  </a:lnTo>
                  <a:lnTo>
                    <a:pt x="4980724" y="16484"/>
                  </a:lnTo>
                  <a:close/>
                </a:path>
              </a:pathLst>
            </a:custGeom>
            <a:solidFill>
              <a:srgbClr val="D9CD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19125" y="1924049"/>
              <a:ext cx="76200" cy="1657350"/>
            </a:xfrm>
            <a:custGeom>
              <a:rect b="b" l="l" r="r" t="t"/>
              <a:pathLst>
                <a:path extrusionOk="0" h="1657350" w="76200">
                  <a:moveTo>
                    <a:pt x="76200" y="0"/>
                  </a:moveTo>
                  <a:lnTo>
                    <a:pt x="19749" y="0"/>
                  </a:lnTo>
                  <a:lnTo>
                    <a:pt x="16847" y="571"/>
                  </a:lnTo>
                  <a:lnTo>
                    <a:pt x="0" y="19748"/>
                  </a:lnTo>
                  <a:lnTo>
                    <a:pt x="0" y="1634578"/>
                  </a:lnTo>
                  <a:lnTo>
                    <a:pt x="0" y="1637601"/>
                  </a:lnTo>
                  <a:lnTo>
                    <a:pt x="19749" y="1657350"/>
                  </a:lnTo>
                  <a:lnTo>
                    <a:pt x="76200" y="16573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750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7"/>
          <p:cNvSpPr txBox="1"/>
          <p:nvPr/>
        </p:nvSpPr>
        <p:spPr>
          <a:xfrm>
            <a:off x="883245" y="2106612"/>
            <a:ext cx="437769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A362F"/>
                </a:solidFill>
                <a:latin typeface="Cambria"/>
                <a:ea typeface="Cambria"/>
                <a:cs typeface="Cambria"/>
                <a:sym typeface="Cambria"/>
              </a:rPr>
              <a:t>Flexibilidad Inigualable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6000"/>
              </a:lnSpc>
              <a:spcBef>
                <a:spcPts val="59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Se adapta perfectamente a diversos sectores, tamaños de empresa y tipos de proyectos, desde manufactura hasta servicios.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26" name="Google Shape;126;p7"/>
          <p:cNvGrpSpPr/>
          <p:nvPr/>
        </p:nvGrpSpPr>
        <p:grpSpPr>
          <a:xfrm>
            <a:off x="5791200" y="1924049"/>
            <a:ext cx="5000828" cy="1657363"/>
            <a:chOff x="5791200" y="1924049"/>
            <a:chExt cx="5000828" cy="1657363"/>
          </a:xfrm>
        </p:grpSpPr>
        <p:sp>
          <p:nvSpPr>
            <p:cNvPr id="127" name="Google Shape;127;p7"/>
            <p:cNvSpPr/>
            <p:nvPr/>
          </p:nvSpPr>
          <p:spPr>
            <a:xfrm>
              <a:off x="5810250" y="1933574"/>
              <a:ext cx="4972050" cy="1638300"/>
            </a:xfrm>
            <a:custGeom>
              <a:rect b="b" l="l" r="r" t="t"/>
              <a:pathLst>
                <a:path extrusionOk="0" h="1638300" w="4972050">
                  <a:moveTo>
                    <a:pt x="4960556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71625"/>
                  </a:lnTo>
                  <a:lnTo>
                    <a:pt x="0" y="1576006"/>
                  </a:lnTo>
                  <a:lnTo>
                    <a:pt x="15621" y="1612303"/>
                  </a:lnTo>
                  <a:lnTo>
                    <a:pt x="51663" y="1634896"/>
                  </a:lnTo>
                  <a:lnTo>
                    <a:pt x="71196" y="1638300"/>
                  </a:lnTo>
                  <a:lnTo>
                    <a:pt x="4960556" y="1638300"/>
                  </a:lnTo>
                  <a:lnTo>
                    <a:pt x="4972050" y="1626806"/>
                  </a:lnTo>
                  <a:lnTo>
                    <a:pt x="4972050" y="11493"/>
                  </a:lnTo>
                  <a:lnTo>
                    <a:pt x="4962245" y="330"/>
                  </a:lnTo>
                  <a:lnTo>
                    <a:pt x="4960556" y="0"/>
                  </a:lnTo>
                  <a:close/>
                </a:path>
              </a:pathLst>
            </a:custGeom>
            <a:solidFill>
              <a:srgbClr val="FEF5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5811088" y="1924062"/>
              <a:ext cx="4980940" cy="1657350"/>
            </a:xfrm>
            <a:custGeom>
              <a:rect b="b" l="l" r="r" t="t"/>
              <a:pathLst>
                <a:path extrusionOk="0" h="1657350" w="4980940">
                  <a:moveTo>
                    <a:pt x="4980724" y="16484"/>
                  </a:moveTo>
                  <a:lnTo>
                    <a:pt x="4978501" y="11112"/>
                  </a:lnTo>
                  <a:lnTo>
                    <a:pt x="4974526" y="7150"/>
                  </a:lnTo>
                  <a:lnTo>
                    <a:pt x="4974285" y="6896"/>
                  </a:lnTo>
                  <a:lnTo>
                    <a:pt x="4974069" y="6667"/>
                  </a:lnTo>
                  <a:lnTo>
                    <a:pt x="4969611" y="2222"/>
                  </a:lnTo>
                  <a:lnTo>
                    <a:pt x="4964239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60429" y="19050"/>
                  </a:lnTo>
                  <a:lnTo>
                    <a:pt x="4961229" y="19850"/>
                  </a:lnTo>
                  <a:lnTo>
                    <a:pt x="4961674" y="20294"/>
                  </a:lnTo>
                  <a:lnTo>
                    <a:pt x="4961674" y="1637055"/>
                  </a:lnTo>
                  <a:lnTo>
                    <a:pt x="4961052" y="1637677"/>
                  </a:lnTo>
                  <a:lnTo>
                    <a:pt x="4960429" y="1638300"/>
                  </a:lnTo>
                  <a:lnTo>
                    <a:pt x="75349" y="1638300"/>
                  </a:lnTo>
                  <a:lnTo>
                    <a:pt x="33007" y="1628673"/>
                  </a:lnTo>
                  <a:lnTo>
                    <a:pt x="1079" y="1596021"/>
                  </a:lnTo>
                  <a:lnTo>
                    <a:pt x="0" y="1591919"/>
                  </a:lnTo>
                  <a:lnTo>
                    <a:pt x="609" y="1596021"/>
                  </a:lnTo>
                  <a:lnTo>
                    <a:pt x="2413" y="1603222"/>
                  </a:lnTo>
                  <a:lnTo>
                    <a:pt x="4864" y="1610029"/>
                  </a:lnTo>
                  <a:lnTo>
                    <a:pt x="4953" y="1610309"/>
                  </a:lnTo>
                  <a:lnTo>
                    <a:pt x="33007" y="1644510"/>
                  </a:lnTo>
                  <a:lnTo>
                    <a:pt x="75349" y="1657350"/>
                  </a:lnTo>
                  <a:lnTo>
                    <a:pt x="4964239" y="1657350"/>
                  </a:lnTo>
                  <a:lnTo>
                    <a:pt x="4969611" y="1655127"/>
                  </a:lnTo>
                  <a:lnTo>
                    <a:pt x="4974056" y="1650682"/>
                  </a:lnTo>
                  <a:lnTo>
                    <a:pt x="4974539" y="1650199"/>
                  </a:lnTo>
                  <a:lnTo>
                    <a:pt x="4978501" y="1646237"/>
                  </a:lnTo>
                  <a:lnTo>
                    <a:pt x="4980724" y="1640865"/>
                  </a:lnTo>
                  <a:lnTo>
                    <a:pt x="4980724" y="16484"/>
                  </a:lnTo>
                  <a:close/>
                </a:path>
              </a:pathLst>
            </a:custGeom>
            <a:solidFill>
              <a:srgbClr val="D9CD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5791200" y="1924049"/>
              <a:ext cx="76200" cy="1657350"/>
            </a:xfrm>
            <a:custGeom>
              <a:rect b="b" l="l" r="r" t="t"/>
              <a:pathLst>
                <a:path extrusionOk="0" h="1657350" w="76200">
                  <a:moveTo>
                    <a:pt x="76200" y="0"/>
                  </a:moveTo>
                  <a:lnTo>
                    <a:pt x="19748" y="0"/>
                  </a:lnTo>
                  <a:lnTo>
                    <a:pt x="16852" y="571"/>
                  </a:lnTo>
                  <a:lnTo>
                    <a:pt x="0" y="19748"/>
                  </a:lnTo>
                  <a:lnTo>
                    <a:pt x="0" y="1634578"/>
                  </a:lnTo>
                  <a:lnTo>
                    <a:pt x="0" y="1637601"/>
                  </a:lnTo>
                  <a:lnTo>
                    <a:pt x="19748" y="1657350"/>
                  </a:lnTo>
                  <a:lnTo>
                    <a:pt x="76200" y="16573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750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7"/>
          <p:cNvSpPr txBox="1"/>
          <p:nvPr/>
        </p:nvSpPr>
        <p:spPr>
          <a:xfrm>
            <a:off x="6051753" y="2106612"/>
            <a:ext cx="400494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A362F"/>
                </a:solidFill>
                <a:latin typeface="Cambria"/>
                <a:ea typeface="Cambria"/>
                <a:cs typeface="Cambria"/>
                <a:sym typeface="Cambria"/>
              </a:rPr>
              <a:t>Cultura de Mejora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4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Fomenta un ambiente organizacional de aprendizaje constante, innovación y búsqueda de la excelencia.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31" name="Google Shape;131;p7"/>
          <p:cNvGrpSpPr/>
          <p:nvPr/>
        </p:nvGrpSpPr>
        <p:grpSpPr>
          <a:xfrm>
            <a:off x="619125" y="3762375"/>
            <a:ext cx="5000828" cy="1647837"/>
            <a:chOff x="619125" y="3762375"/>
            <a:chExt cx="5000828" cy="1647837"/>
          </a:xfrm>
        </p:grpSpPr>
        <p:sp>
          <p:nvSpPr>
            <p:cNvPr id="132" name="Google Shape;132;p7"/>
            <p:cNvSpPr/>
            <p:nvPr/>
          </p:nvSpPr>
          <p:spPr>
            <a:xfrm>
              <a:off x="638175" y="3771900"/>
              <a:ext cx="4972050" cy="1628775"/>
            </a:xfrm>
            <a:custGeom>
              <a:rect b="b" l="l" r="r" t="t"/>
              <a:pathLst>
                <a:path extrusionOk="0" h="1628775" w="4972050">
                  <a:moveTo>
                    <a:pt x="4960556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562101"/>
                  </a:lnTo>
                  <a:lnTo>
                    <a:pt x="0" y="1566476"/>
                  </a:lnTo>
                  <a:lnTo>
                    <a:pt x="15622" y="1602780"/>
                  </a:lnTo>
                  <a:lnTo>
                    <a:pt x="51663" y="1625372"/>
                  </a:lnTo>
                  <a:lnTo>
                    <a:pt x="71194" y="1628776"/>
                  </a:lnTo>
                  <a:lnTo>
                    <a:pt x="4960556" y="1628776"/>
                  </a:lnTo>
                  <a:lnTo>
                    <a:pt x="4972050" y="1617286"/>
                  </a:lnTo>
                  <a:lnTo>
                    <a:pt x="4972050" y="11493"/>
                  </a:lnTo>
                  <a:lnTo>
                    <a:pt x="4962245" y="330"/>
                  </a:lnTo>
                  <a:lnTo>
                    <a:pt x="4960556" y="0"/>
                  </a:lnTo>
                  <a:close/>
                </a:path>
              </a:pathLst>
            </a:custGeom>
            <a:solidFill>
              <a:srgbClr val="FEF5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39013" y="3762387"/>
              <a:ext cx="4980940" cy="1647825"/>
            </a:xfrm>
            <a:custGeom>
              <a:rect b="b" l="l" r="r" t="t"/>
              <a:pathLst>
                <a:path extrusionOk="0" h="1647825" w="4980940">
                  <a:moveTo>
                    <a:pt x="4980724" y="16484"/>
                  </a:moveTo>
                  <a:lnTo>
                    <a:pt x="4978501" y="11112"/>
                  </a:lnTo>
                  <a:lnTo>
                    <a:pt x="4974526" y="7150"/>
                  </a:lnTo>
                  <a:lnTo>
                    <a:pt x="4974285" y="6896"/>
                  </a:lnTo>
                  <a:lnTo>
                    <a:pt x="4974069" y="6667"/>
                  </a:lnTo>
                  <a:lnTo>
                    <a:pt x="4969611" y="2222"/>
                  </a:lnTo>
                  <a:lnTo>
                    <a:pt x="4964239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60429" y="19050"/>
                  </a:lnTo>
                  <a:lnTo>
                    <a:pt x="4961229" y="19850"/>
                  </a:lnTo>
                  <a:lnTo>
                    <a:pt x="4961674" y="20294"/>
                  </a:lnTo>
                  <a:lnTo>
                    <a:pt x="4961674" y="1627530"/>
                  </a:lnTo>
                  <a:lnTo>
                    <a:pt x="4961064" y="1628140"/>
                  </a:lnTo>
                  <a:lnTo>
                    <a:pt x="4960429" y="1628775"/>
                  </a:lnTo>
                  <a:lnTo>
                    <a:pt x="75349" y="1628775"/>
                  </a:lnTo>
                  <a:lnTo>
                    <a:pt x="33007" y="1619148"/>
                  </a:lnTo>
                  <a:lnTo>
                    <a:pt x="1092" y="1586484"/>
                  </a:lnTo>
                  <a:lnTo>
                    <a:pt x="0" y="1582369"/>
                  </a:lnTo>
                  <a:lnTo>
                    <a:pt x="609" y="1586484"/>
                  </a:lnTo>
                  <a:lnTo>
                    <a:pt x="21475" y="1625498"/>
                  </a:lnTo>
                  <a:lnTo>
                    <a:pt x="60490" y="1646364"/>
                  </a:lnTo>
                  <a:lnTo>
                    <a:pt x="75349" y="1647825"/>
                  </a:lnTo>
                  <a:lnTo>
                    <a:pt x="4964239" y="1647825"/>
                  </a:lnTo>
                  <a:lnTo>
                    <a:pt x="4969611" y="1645589"/>
                  </a:lnTo>
                  <a:lnTo>
                    <a:pt x="4974056" y="1641144"/>
                  </a:lnTo>
                  <a:lnTo>
                    <a:pt x="4974539" y="1640674"/>
                  </a:lnTo>
                  <a:lnTo>
                    <a:pt x="4978501" y="1636699"/>
                  </a:lnTo>
                  <a:lnTo>
                    <a:pt x="4980724" y="1631340"/>
                  </a:lnTo>
                  <a:lnTo>
                    <a:pt x="4980724" y="16484"/>
                  </a:lnTo>
                  <a:close/>
                </a:path>
              </a:pathLst>
            </a:custGeom>
            <a:solidFill>
              <a:srgbClr val="D9CD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19125" y="3762375"/>
              <a:ext cx="76200" cy="1647825"/>
            </a:xfrm>
            <a:custGeom>
              <a:rect b="b" l="l" r="r" t="t"/>
              <a:pathLst>
                <a:path extrusionOk="0" h="1647825" w="76200">
                  <a:moveTo>
                    <a:pt x="76200" y="0"/>
                  </a:moveTo>
                  <a:lnTo>
                    <a:pt x="19749" y="0"/>
                  </a:lnTo>
                  <a:lnTo>
                    <a:pt x="16847" y="571"/>
                  </a:lnTo>
                  <a:lnTo>
                    <a:pt x="0" y="19748"/>
                  </a:lnTo>
                  <a:lnTo>
                    <a:pt x="0" y="1625055"/>
                  </a:lnTo>
                  <a:lnTo>
                    <a:pt x="0" y="1628071"/>
                  </a:lnTo>
                  <a:lnTo>
                    <a:pt x="19749" y="1647826"/>
                  </a:lnTo>
                  <a:lnTo>
                    <a:pt x="76200" y="1647826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750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p7"/>
          <p:cNvSpPr txBox="1"/>
          <p:nvPr/>
        </p:nvSpPr>
        <p:spPr>
          <a:xfrm>
            <a:off x="883245" y="3944937"/>
            <a:ext cx="419100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A362F"/>
                </a:solidFill>
                <a:latin typeface="Cambria"/>
                <a:ea typeface="Cambria"/>
                <a:cs typeface="Cambria"/>
                <a:sym typeface="Cambria"/>
              </a:rPr>
              <a:t>Reducción de Riesgos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6000"/>
              </a:lnSpc>
              <a:spcBef>
                <a:spcPts val="59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Permite probar soluciones en un entorno controlado, minimizando el impacto de posibles errores antes de la implementación total.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5791200" y="3762375"/>
            <a:ext cx="5000828" cy="1647837"/>
            <a:chOff x="5791200" y="3762375"/>
            <a:chExt cx="5000828" cy="1647837"/>
          </a:xfrm>
        </p:grpSpPr>
        <p:sp>
          <p:nvSpPr>
            <p:cNvPr id="137" name="Google Shape;137;p7"/>
            <p:cNvSpPr/>
            <p:nvPr/>
          </p:nvSpPr>
          <p:spPr>
            <a:xfrm>
              <a:off x="5810250" y="3771900"/>
              <a:ext cx="4972050" cy="1628775"/>
            </a:xfrm>
            <a:custGeom>
              <a:rect b="b" l="l" r="r" t="t"/>
              <a:pathLst>
                <a:path extrusionOk="0" h="1628775" w="4972050">
                  <a:moveTo>
                    <a:pt x="4960556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62101"/>
                  </a:lnTo>
                  <a:lnTo>
                    <a:pt x="0" y="1566476"/>
                  </a:lnTo>
                  <a:lnTo>
                    <a:pt x="15621" y="1602780"/>
                  </a:lnTo>
                  <a:lnTo>
                    <a:pt x="51663" y="1625372"/>
                  </a:lnTo>
                  <a:lnTo>
                    <a:pt x="71196" y="1628776"/>
                  </a:lnTo>
                  <a:lnTo>
                    <a:pt x="4960556" y="1628776"/>
                  </a:lnTo>
                  <a:lnTo>
                    <a:pt x="4972050" y="1617286"/>
                  </a:lnTo>
                  <a:lnTo>
                    <a:pt x="4972050" y="11493"/>
                  </a:lnTo>
                  <a:lnTo>
                    <a:pt x="4962245" y="330"/>
                  </a:lnTo>
                  <a:lnTo>
                    <a:pt x="4960556" y="0"/>
                  </a:lnTo>
                  <a:close/>
                </a:path>
              </a:pathLst>
            </a:custGeom>
            <a:solidFill>
              <a:srgbClr val="FEF5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5811088" y="3762387"/>
              <a:ext cx="4980940" cy="1647825"/>
            </a:xfrm>
            <a:custGeom>
              <a:rect b="b" l="l" r="r" t="t"/>
              <a:pathLst>
                <a:path extrusionOk="0" h="1647825" w="4980940">
                  <a:moveTo>
                    <a:pt x="4980724" y="16484"/>
                  </a:moveTo>
                  <a:lnTo>
                    <a:pt x="4978501" y="11112"/>
                  </a:lnTo>
                  <a:lnTo>
                    <a:pt x="4974526" y="7150"/>
                  </a:lnTo>
                  <a:lnTo>
                    <a:pt x="4974285" y="6896"/>
                  </a:lnTo>
                  <a:lnTo>
                    <a:pt x="4974069" y="6667"/>
                  </a:lnTo>
                  <a:lnTo>
                    <a:pt x="4969611" y="2222"/>
                  </a:lnTo>
                  <a:lnTo>
                    <a:pt x="4964239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60429" y="19050"/>
                  </a:lnTo>
                  <a:lnTo>
                    <a:pt x="4961229" y="19850"/>
                  </a:lnTo>
                  <a:lnTo>
                    <a:pt x="4961674" y="20294"/>
                  </a:lnTo>
                  <a:lnTo>
                    <a:pt x="4961674" y="1627530"/>
                  </a:lnTo>
                  <a:lnTo>
                    <a:pt x="4961064" y="1628140"/>
                  </a:lnTo>
                  <a:lnTo>
                    <a:pt x="4960429" y="1628775"/>
                  </a:lnTo>
                  <a:lnTo>
                    <a:pt x="75349" y="1628775"/>
                  </a:lnTo>
                  <a:lnTo>
                    <a:pt x="33007" y="1619148"/>
                  </a:lnTo>
                  <a:lnTo>
                    <a:pt x="1079" y="1586484"/>
                  </a:lnTo>
                  <a:lnTo>
                    <a:pt x="0" y="1582381"/>
                  </a:lnTo>
                  <a:lnTo>
                    <a:pt x="609" y="1586484"/>
                  </a:lnTo>
                  <a:lnTo>
                    <a:pt x="21463" y="1625498"/>
                  </a:lnTo>
                  <a:lnTo>
                    <a:pt x="60490" y="1646364"/>
                  </a:lnTo>
                  <a:lnTo>
                    <a:pt x="75349" y="1647825"/>
                  </a:lnTo>
                  <a:lnTo>
                    <a:pt x="4964239" y="1647825"/>
                  </a:lnTo>
                  <a:lnTo>
                    <a:pt x="4969611" y="1645589"/>
                  </a:lnTo>
                  <a:lnTo>
                    <a:pt x="4974056" y="1641144"/>
                  </a:lnTo>
                  <a:lnTo>
                    <a:pt x="4974539" y="1640674"/>
                  </a:lnTo>
                  <a:lnTo>
                    <a:pt x="4978501" y="1636699"/>
                  </a:lnTo>
                  <a:lnTo>
                    <a:pt x="4980724" y="1631340"/>
                  </a:lnTo>
                  <a:lnTo>
                    <a:pt x="4980724" y="16484"/>
                  </a:lnTo>
                  <a:close/>
                </a:path>
              </a:pathLst>
            </a:custGeom>
            <a:solidFill>
              <a:srgbClr val="D9CD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5791200" y="3762375"/>
              <a:ext cx="76200" cy="1647825"/>
            </a:xfrm>
            <a:custGeom>
              <a:rect b="b" l="l" r="r" t="t"/>
              <a:pathLst>
                <a:path extrusionOk="0" h="1647825" w="76200">
                  <a:moveTo>
                    <a:pt x="76200" y="0"/>
                  </a:moveTo>
                  <a:lnTo>
                    <a:pt x="19748" y="0"/>
                  </a:lnTo>
                  <a:lnTo>
                    <a:pt x="16852" y="571"/>
                  </a:lnTo>
                  <a:lnTo>
                    <a:pt x="0" y="19748"/>
                  </a:lnTo>
                  <a:lnTo>
                    <a:pt x="0" y="1625055"/>
                  </a:lnTo>
                  <a:lnTo>
                    <a:pt x="0" y="1628071"/>
                  </a:lnTo>
                  <a:lnTo>
                    <a:pt x="19748" y="1647826"/>
                  </a:lnTo>
                  <a:lnTo>
                    <a:pt x="76200" y="1647826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750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7"/>
          <p:cNvSpPr txBox="1"/>
          <p:nvPr/>
        </p:nvSpPr>
        <p:spPr>
          <a:xfrm>
            <a:off x="6051753" y="3944937"/>
            <a:ext cx="447738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A362F"/>
                </a:solidFill>
                <a:latin typeface="Cambria"/>
                <a:ea typeface="Cambria"/>
                <a:cs typeface="Cambria"/>
                <a:sym typeface="Cambria"/>
              </a:rPr>
              <a:t>Calidad Asegurada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4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Facilita el cumplimiento y la gestión de calidad, siendo una herramienta clave para certificaciones como ISO 9001.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0" y="-1"/>
            <a:ext cx="11430000" cy="8467725"/>
          </a:xfrm>
          <a:custGeom>
            <a:rect b="b" l="l" r="r" t="t"/>
            <a:pathLst>
              <a:path extrusionOk="0" h="8467725" w="11430000">
                <a:moveTo>
                  <a:pt x="11430000" y="0"/>
                </a:moveTo>
                <a:lnTo>
                  <a:pt x="0" y="0"/>
                </a:lnTo>
                <a:lnTo>
                  <a:pt x="0" y="8467725"/>
                </a:lnTo>
                <a:lnTo>
                  <a:pt x="11430000" y="84677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146" name="Google Shape;146;p8"/>
          <p:cNvSpPr txBox="1"/>
          <p:nvPr>
            <p:ph type="title"/>
          </p:nvPr>
        </p:nvSpPr>
        <p:spPr>
          <a:xfrm>
            <a:off x="4082605" y="487362"/>
            <a:ext cx="3265170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/>
              <a:t>PDCA en el ecosistema moderno</a:t>
            </a:r>
            <a:endParaRPr sz="1650"/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2971800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3905250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4848225"/>
            <a:ext cx="66675" cy="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 txBox="1"/>
          <p:nvPr/>
        </p:nvSpPr>
        <p:spPr>
          <a:xfrm>
            <a:off x="624878" y="929322"/>
            <a:ext cx="8233409" cy="4644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5080" rtl="0" algn="l">
              <a:lnSpc>
                <a:spcPct val="1243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0">
                <a:solidFill>
                  <a:srgbClr val="37502F"/>
                </a:solidFill>
                <a:latin typeface="Cambria"/>
                <a:ea typeface="Cambria"/>
                <a:cs typeface="Cambria"/>
                <a:sym typeface="Cambria"/>
              </a:rPr>
              <a:t>Integración con metodologías modernas</a:t>
            </a:r>
            <a:endParaRPr sz="4650">
              <a:latin typeface="Cambria"/>
              <a:ea typeface="Cambria"/>
              <a:cs typeface="Cambria"/>
              <a:sym typeface="Cambria"/>
            </a:endParaRPr>
          </a:p>
          <a:p>
            <a:pPr indent="0" lvl="0" marL="303530" marR="3477895" rtl="0" algn="l">
              <a:lnSpc>
                <a:spcPct val="136000"/>
              </a:lnSpc>
              <a:spcBef>
                <a:spcPts val="3135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Base para Lean Manufacturing y Kaizen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: su enfoque en la eliminación de desperdicios y la mejora continua lo convierte en el pilar fundamental.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03530" marR="3802380" rtl="0" algn="l">
              <a:lnSpc>
                <a:spcPct val="138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Complementa sistemas ágiles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: se integra con metodologías como Scrum, aportando estructura a las iteraciones rápidas.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03530" marR="3685540" rtl="0" algn="l">
              <a:lnSpc>
                <a:spcPct val="136000"/>
              </a:lnSpc>
              <a:spcBef>
                <a:spcPts val="485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Potenciado por herramientas digitales</a:t>
            </a: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: software de gestión de proyectos, BI y análisis de datos optimizan su seguimiento y análisis de resultados.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1" name="Google Shape;15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2905125"/>
            <a:ext cx="4857749" cy="4857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-1"/>
            <a:ext cx="11430000" cy="6448425"/>
          </a:xfrm>
          <a:custGeom>
            <a:rect b="b" l="l" r="r" t="t"/>
            <a:pathLst>
              <a:path extrusionOk="0" h="6448425" w="11430000">
                <a:moveTo>
                  <a:pt x="11430000" y="0"/>
                </a:moveTo>
                <a:lnTo>
                  <a:pt x="0" y="0"/>
                </a:lnTo>
                <a:lnTo>
                  <a:pt x="0" y="6448425"/>
                </a:lnTo>
                <a:lnTo>
                  <a:pt x="11430000" y="64484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EF5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157" name="Google Shape;157;p9"/>
          <p:cNvSpPr txBox="1"/>
          <p:nvPr>
            <p:ph type="title"/>
          </p:nvPr>
        </p:nvSpPr>
        <p:spPr>
          <a:xfrm>
            <a:off x="624879" y="482600"/>
            <a:ext cx="6607809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Errores comunes al aplicar PDCA</a:t>
            </a:r>
            <a:endParaRPr/>
          </a:p>
        </p:txBody>
      </p:sp>
      <p:grpSp>
        <p:nvGrpSpPr>
          <p:cNvPr id="158" name="Google Shape;158;p9"/>
          <p:cNvGrpSpPr/>
          <p:nvPr/>
        </p:nvGrpSpPr>
        <p:grpSpPr>
          <a:xfrm>
            <a:off x="638162" y="1400174"/>
            <a:ext cx="4981588" cy="2181440"/>
            <a:chOff x="638162" y="1400174"/>
            <a:chExt cx="4981588" cy="2181440"/>
          </a:xfrm>
        </p:grpSpPr>
        <p:sp>
          <p:nvSpPr>
            <p:cNvPr id="159" name="Google Shape;159;p9"/>
            <p:cNvSpPr/>
            <p:nvPr/>
          </p:nvSpPr>
          <p:spPr>
            <a:xfrm>
              <a:off x="647700" y="1676399"/>
              <a:ext cx="4962525" cy="1895475"/>
            </a:xfrm>
            <a:custGeom>
              <a:rect b="b" l="l" r="r" t="t"/>
              <a:pathLst>
                <a:path extrusionOk="0" h="1895475" w="4962525">
                  <a:moveTo>
                    <a:pt x="4900231" y="0"/>
                  </a:moveTo>
                  <a:lnTo>
                    <a:pt x="62299" y="0"/>
                  </a:lnTo>
                  <a:lnTo>
                    <a:pt x="57964" y="495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882228"/>
                  </a:lnTo>
                  <a:lnTo>
                    <a:pt x="0" y="1883981"/>
                  </a:lnTo>
                  <a:lnTo>
                    <a:pt x="11489" y="1895475"/>
                  </a:lnTo>
                  <a:lnTo>
                    <a:pt x="4951031" y="1895475"/>
                  </a:lnTo>
                  <a:lnTo>
                    <a:pt x="4962525" y="1883981"/>
                  </a:lnTo>
                  <a:lnTo>
                    <a:pt x="4962525" y="71196"/>
                  </a:lnTo>
                  <a:lnTo>
                    <a:pt x="4948859" y="29705"/>
                  </a:lnTo>
                  <a:lnTo>
                    <a:pt x="4917325" y="3886"/>
                  </a:lnTo>
                  <a:lnTo>
                    <a:pt x="4904562" y="495"/>
                  </a:lnTo>
                  <a:lnTo>
                    <a:pt x="4900231" y="0"/>
                  </a:lnTo>
                  <a:close/>
                </a:path>
              </a:pathLst>
            </a:custGeom>
            <a:solidFill>
              <a:srgbClr val="FEF5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638162" y="1677250"/>
              <a:ext cx="4981575" cy="1904364"/>
            </a:xfrm>
            <a:custGeom>
              <a:rect b="b" l="l" r="r" t="t"/>
              <a:pathLst>
                <a:path extrusionOk="0" h="1904364" w="4981575">
                  <a:moveTo>
                    <a:pt x="4981575" y="75361"/>
                  </a:moveTo>
                  <a:lnTo>
                    <a:pt x="4968748" y="33020"/>
                  </a:lnTo>
                  <a:lnTo>
                    <a:pt x="4934534" y="4965"/>
                  </a:lnTo>
                  <a:lnTo>
                    <a:pt x="4916144" y="0"/>
                  </a:lnTo>
                  <a:lnTo>
                    <a:pt x="4920246" y="1092"/>
                  </a:lnTo>
                  <a:lnTo>
                    <a:pt x="4934242" y="8826"/>
                  </a:lnTo>
                  <a:lnTo>
                    <a:pt x="4958169" y="46202"/>
                  </a:lnTo>
                  <a:lnTo>
                    <a:pt x="4962525" y="75361"/>
                  </a:lnTo>
                  <a:lnTo>
                    <a:pt x="4962525" y="1883867"/>
                  </a:lnTo>
                  <a:lnTo>
                    <a:pt x="4961915" y="1884476"/>
                  </a:lnTo>
                  <a:lnTo>
                    <a:pt x="4961433" y="1884959"/>
                  </a:lnTo>
                  <a:lnTo>
                    <a:pt x="4961280" y="1885111"/>
                  </a:lnTo>
                  <a:lnTo>
                    <a:pt x="20294" y="1885111"/>
                  </a:lnTo>
                  <a:lnTo>
                    <a:pt x="20142" y="1884972"/>
                  </a:lnTo>
                  <a:lnTo>
                    <a:pt x="19837" y="1884654"/>
                  </a:lnTo>
                  <a:lnTo>
                    <a:pt x="19672" y="1884476"/>
                  </a:lnTo>
                  <a:lnTo>
                    <a:pt x="19050" y="1883867"/>
                  </a:lnTo>
                  <a:lnTo>
                    <a:pt x="19050" y="75361"/>
                  </a:lnTo>
                  <a:lnTo>
                    <a:pt x="19329" y="67843"/>
                  </a:lnTo>
                  <a:lnTo>
                    <a:pt x="32004" y="27038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887677"/>
                  </a:lnTo>
                  <a:lnTo>
                    <a:pt x="2222" y="1893049"/>
                  </a:lnTo>
                  <a:lnTo>
                    <a:pt x="7150" y="1897964"/>
                  </a:lnTo>
                  <a:lnTo>
                    <a:pt x="11125" y="1901939"/>
                  </a:lnTo>
                  <a:lnTo>
                    <a:pt x="16484" y="1904161"/>
                  </a:lnTo>
                  <a:lnTo>
                    <a:pt x="4965090" y="1904161"/>
                  </a:lnTo>
                  <a:lnTo>
                    <a:pt x="4970462" y="1901939"/>
                  </a:lnTo>
                  <a:lnTo>
                    <a:pt x="4974437" y="1897964"/>
                  </a:lnTo>
                  <a:lnTo>
                    <a:pt x="4974920" y="1897481"/>
                  </a:lnTo>
                  <a:lnTo>
                    <a:pt x="4979352" y="1893049"/>
                  </a:lnTo>
                  <a:lnTo>
                    <a:pt x="4981575" y="1887677"/>
                  </a:lnTo>
                  <a:lnTo>
                    <a:pt x="4981575" y="75361"/>
                  </a:lnTo>
                  <a:close/>
                </a:path>
              </a:pathLst>
            </a:custGeom>
            <a:solidFill>
              <a:srgbClr val="D9CD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638175" y="1657349"/>
              <a:ext cx="4981575" cy="76200"/>
            </a:xfrm>
            <a:custGeom>
              <a:rect b="b" l="l" r="r" t="t"/>
              <a:pathLst>
                <a:path extrusionOk="0" h="76200" w="4981575">
                  <a:moveTo>
                    <a:pt x="4961826" y="0"/>
                  </a:moveTo>
                  <a:lnTo>
                    <a:pt x="19749" y="0"/>
                  </a:lnTo>
                  <a:lnTo>
                    <a:pt x="16847" y="584"/>
                  </a:lnTo>
                  <a:lnTo>
                    <a:pt x="0" y="19748"/>
                  </a:lnTo>
                  <a:lnTo>
                    <a:pt x="0" y="76200"/>
                  </a:lnTo>
                  <a:lnTo>
                    <a:pt x="4981575" y="76200"/>
                  </a:lnTo>
                  <a:lnTo>
                    <a:pt x="4981575" y="19748"/>
                  </a:lnTo>
                  <a:lnTo>
                    <a:pt x="4961826" y="0"/>
                  </a:lnTo>
                  <a:close/>
                </a:path>
              </a:pathLst>
            </a:custGeom>
            <a:solidFill>
              <a:srgbClr val="3750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2" name="Google Shape;16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60471" y="1400174"/>
              <a:ext cx="542925" cy="552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9"/>
          <p:cNvSpPr txBox="1"/>
          <p:nvPr/>
        </p:nvSpPr>
        <p:spPr>
          <a:xfrm>
            <a:off x="826095" y="2116137"/>
            <a:ext cx="421830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A362F"/>
                </a:solidFill>
                <a:latin typeface="Cambria"/>
                <a:ea typeface="Cambria"/>
                <a:cs typeface="Cambria"/>
                <a:sym typeface="Cambria"/>
              </a:rPr>
              <a:t>Saltarse etapas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6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Omitir fases o no documentar adecuadamente los resultados interrumpe el flujo lógico y la efectividad del ciclo.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64" name="Google Shape;164;p9"/>
          <p:cNvGrpSpPr/>
          <p:nvPr/>
        </p:nvGrpSpPr>
        <p:grpSpPr>
          <a:xfrm>
            <a:off x="5810237" y="1400174"/>
            <a:ext cx="4981588" cy="2181440"/>
            <a:chOff x="5810237" y="1400174"/>
            <a:chExt cx="4981588" cy="2181440"/>
          </a:xfrm>
        </p:grpSpPr>
        <p:sp>
          <p:nvSpPr>
            <p:cNvPr id="165" name="Google Shape;165;p9"/>
            <p:cNvSpPr/>
            <p:nvPr/>
          </p:nvSpPr>
          <p:spPr>
            <a:xfrm>
              <a:off x="5819775" y="1676399"/>
              <a:ext cx="4962525" cy="1895475"/>
            </a:xfrm>
            <a:custGeom>
              <a:rect b="b" l="l" r="r" t="t"/>
              <a:pathLst>
                <a:path extrusionOk="0" h="1895475" w="4962525">
                  <a:moveTo>
                    <a:pt x="4900231" y="0"/>
                  </a:moveTo>
                  <a:lnTo>
                    <a:pt x="62293" y="0"/>
                  </a:lnTo>
                  <a:lnTo>
                    <a:pt x="57962" y="495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882228"/>
                  </a:lnTo>
                  <a:lnTo>
                    <a:pt x="0" y="1883981"/>
                  </a:lnTo>
                  <a:lnTo>
                    <a:pt x="11493" y="1895475"/>
                  </a:lnTo>
                  <a:lnTo>
                    <a:pt x="4951031" y="1895475"/>
                  </a:lnTo>
                  <a:lnTo>
                    <a:pt x="4962525" y="1883981"/>
                  </a:lnTo>
                  <a:lnTo>
                    <a:pt x="4962525" y="71196"/>
                  </a:lnTo>
                  <a:lnTo>
                    <a:pt x="4948847" y="29705"/>
                  </a:lnTo>
                  <a:lnTo>
                    <a:pt x="4917325" y="3886"/>
                  </a:lnTo>
                  <a:lnTo>
                    <a:pt x="4904562" y="495"/>
                  </a:lnTo>
                  <a:lnTo>
                    <a:pt x="4900231" y="0"/>
                  </a:lnTo>
                  <a:close/>
                </a:path>
              </a:pathLst>
            </a:custGeom>
            <a:solidFill>
              <a:srgbClr val="FEF5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5810237" y="1677250"/>
              <a:ext cx="4981575" cy="1904364"/>
            </a:xfrm>
            <a:custGeom>
              <a:rect b="b" l="l" r="r" t="t"/>
              <a:pathLst>
                <a:path extrusionOk="0" h="1904364" w="4981575">
                  <a:moveTo>
                    <a:pt x="4981575" y="75361"/>
                  </a:moveTo>
                  <a:lnTo>
                    <a:pt x="4968748" y="33020"/>
                  </a:lnTo>
                  <a:lnTo>
                    <a:pt x="4934534" y="4965"/>
                  </a:lnTo>
                  <a:lnTo>
                    <a:pt x="4916144" y="0"/>
                  </a:lnTo>
                  <a:lnTo>
                    <a:pt x="4920246" y="1092"/>
                  </a:lnTo>
                  <a:lnTo>
                    <a:pt x="4934242" y="8826"/>
                  </a:lnTo>
                  <a:lnTo>
                    <a:pt x="4958169" y="46202"/>
                  </a:lnTo>
                  <a:lnTo>
                    <a:pt x="4962525" y="75361"/>
                  </a:lnTo>
                  <a:lnTo>
                    <a:pt x="4962525" y="1883867"/>
                  </a:lnTo>
                  <a:lnTo>
                    <a:pt x="4961915" y="1884476"/>
                  </a:lnTo>
                  <a:lnTo>
                    <a:pt x="4961433" y="1884959"/>
                  </a:lnTo>
                  <a:lnTo>
                    <a:pt x="4961280" y="1885111"/>
                  </a:lnTo>
                  <a:lnTo>
                    <a:pt x="20294" y="1885111"/>
                  </a:lnTo>
                  <a:lnTo>
                    <a:pt x="20142" y="1884972"/>
                  </a:lnTo>
                  <a:lnTo>
                    <a:pt x="19837" y="1884654"/>
                  </a:lnTo>
                  <a:lnTo>
                    <a:pt x="19672" y="1884476"/>
                  </a:lnTo>
                  <a:lnTo>
                    <a:pt x="19050" y="1883867"/>
                  </a:lnTo>
                  <a:lnTo>
                    <a:pt x="19050" y="75361"/>
                  </a:lnTo>
                  <a:lnTo>
                    <a:pt x="19329" y="67843"/>
                  </a:lnTo>
                  <a:lnTo>
                    <a:pt x="32004" y="27038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887677"/>
                  </a:lnTo>
                  <a:lnTo>
                    <a:pt x="2222" y="1893049"/>
                  </a:lnTo>
                  <a:lnTo>
                    <a:pt x="6896" y="1897722"/>
                  </a:lnTo>
                  <a:lnTo>
                    <a:pt x="11112" y="1901939"/>
                  </a:lnTo>
                  <a:lnTo>
                    <a:pt x="16484" y="1904161"/>
                  </a:lnTo>
                  <a:lnTo>
                    <a:pt x="4965090" y="1904161"/>
                  </a:lnTo>
                  <a:lnTo>
                    <a:pt x="4970462" y="1901939"/>
                  </a:lnTo>
                  <a:lnTo>
                    <a:pt x="4974437" y="1897964"/>
                  </a:lnTo>
                  <a:lnTo>
                    <a:pt x="4974920" y="1897481"/>
                  </a:lnTo>
                  <a:lnTo>
                    <a:pt x="4979352" y="1893049"/>
                  </a:lnTo>
                  <a:lnTo>
                    <a:pt x="4981575" y="1887677"/>
                  </a:lnTo>
                  <a:lnTo>
                    <a:pt x="4981575" y="75361"/>
                  </a:lnTo>
                  <a:close/>
                </a:path>
              </a:pathLst>
            </a:custGeom>
            <a:solidFill>
              <a:srgbClr val="D9CD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5810250" y="1657349"/>
              <a:ext cx="4981575" cy="76200"/>
            </a:xfrm>
            <a:custGeom>
              <a:rect b="b" l="l" r="r" t="t"/>
              <a:pathLst>
                <a:path extrusionOk="0" h="76200" w="4981575">
                  <a:moveTo>
                    <a:pt x="4961826" y="0"/>
                  </a:moveTo>
                  <a:lnTo>
                    <a:pt x="19748" y="0"/>
                  </a:lnTo>
                  <a:lnTo>
                    <a:pt x="16852" y="584"/>
                  </a:lnTo>
                  <a:lnTo>
                    <a:pt x="0" y="19748"/>
                  </a:lnTo>
                  <a:lnTo>
                    <a:pt x="0" y="76200"/>
                  </a:lnTo>
                  <a:lnTo>
                    <a:pt x="4981575" y="76200"/>
                  </a:lnTo>
                  <a:lnTo>
                    <a:pt x="4981575" y="19748"/>
                  </a:lnTo>
                  <a:lnTo>
                    <a:pt x="4961826" y="0"/>
                  </a:lnTo>
                  <a:close/>
                </a:path>
              </a:pathLst>
            </a:custGeom>
            <a:solidFill>
              <a:srgbClr val="3750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8" name="Google Shape;168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23021" y="1400174"/>
              <a:ext cx="552450" cy="552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" name="Google Shape;169;p9"/>
          <p:cNvSpPr txBox="1"/>
          <p:nvPr/>
        </p:nvSpPr>
        <p:spPr>
          <a:xfrm>
            <a:off x="5994603" y="2116137"/>
            <a:ext cx="450913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A362F"/>
                </a:solidFill>
                <a:latin typeface="Cambria"/>
                <a:ea typeface="Cambria"/>
                <a:cs typeface="Cambria"/>
                <a:sym typeface="Cambria"/>
              </a:rPr>
              <a:t>Falta de compromiso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8000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La ausencia de implicación del equipo, especialmente en la fase de "Actuar", sabotea la estandarización y mejora.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70" name="Google Shape;170;p9"/>
          <p:cNvGrpSpPr/>
          <p:nvPr/>
        </p:nvGrpSpPr>
        <p:grpSpPr>
          <a:xfrm>
            <a:off x="638162" y="3762374"/>
            <a:ext cx="4981588" cy="2181440"/>
            <a:chOff x="638162" y="3762374"/>
            <a:chExt cx="4981588" cy="2181440"/>
          </a:xfrm>
        </p:grpSpPr>
        <p:sp>
          <p:nvSpPr>
            <p:cNvPr id="171" name="Google Shape;171;p9"/>
            <p:cNvSpPr/>
            <p:nvPr/>
          </p:nvSpPr>
          <p:spPr>
            <a:xfrm>
              <a:off x="647700" y="4038599"/>
              <a:ext cx="4962525" cy="1895475"/>
            </a:xfrm>
            <a:custGeom>
              <a:rect b="b" l="l" r="r" t="t"/>
              <a:pathLst>
                <a:path extrusionOk="0" h="1895475" w="4962525">
                  <a:moveTo>
                    <a:pt x="4900231" y="0"/>
                  </a:moveTo>
                  <a:lnTo>
                    <a:pt x="62299" y="0"/>
                  </a:lnTo>
                  <a:lnTo>
                    <a:pt x="57964" y="495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882228"/>
                  </a:lnTo>
                  <a:lnTo>
                    <a:pt x="0" y="1883984"/>
                  </a:lnTo>
                  <a:lnTo>
                    <a:pt x="11489" y="1895473"/>
                  </a:lnTo>
                  <a:lnTo>
                    <a:pt x="4951031" y="1895473"/>
                  </a:lnTo>
                  <a:lnTo>
                    <a:pt x="4962525" y="1883984"/>
                  </a:lnTo>
                  <a:lnTo>
                    <a:pt x="4962525" y="71196"/>
                  </a:lnTo>
                  <a:lnTo>
                    <a:pt x="4948859" y="29705"/>
                  </a:lnTo>
                  <a:lnTo>
                    <a:pt x="4917325" y="3886"/>
                  </a:lnTo>
                  <a:lnTo>
                    <a:pt x="4904562" y="495"/>
                  </a:lnTo>
                  <a:lnTo>
                    <a:pt x="4900231" y="0"/>
                  </a:lnTo>
                  <a:close/>
                </a:path>
              </a:pathLst>
            </a:custGeom>
            <a:solidFill>
              <a:srgbClr val="FEF5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638162" y="4039450"/>
              <a:ext cx="4981575" cy="1904364"/>
            </a:xfrm>
            <a:custGeom>
              <a:rect b="b" l="l" r="r" t="t"/>
              <a:pathLst>
                <a:path extrusionOk="0" h="1904364" w="4981575">
                  <a:moveTo>
                    <a:pt x="4981575" y="75361"/>
                  </a:moveTo>
                  <a:lnTo>
                    <a:pt x="4968748" y="33020"/>
                  </a:lnTo>
                  <a:lnTo>
                    <a:pt x="4934534" y="4965"/>
                  </a:lnTo>
                  <a:lnTo>
                    <a:pt x="4916144" y="0"/>
                  </a:lnTo>
                  <a:lnTo>
                    <a:pt x="4920246" y="1092"/>
                  </a:lnTo>
                  <a:lnTo>
                    <a:pt x="4934242" y="8826"/>
                  </a:lnTo>
                  <a:lnTo>
                    <a:pt x="4958169" y="46202"/>
                  </a:lnTo>
                  <a:lnTo>
                    <a:pt x="4962525" y="75361"/>
                  </a:lnTo>
                  <a:lnTo>
                    <a:pt x="4962525" y="1883867"/>
                  </a:lnTo>
                  <a:lnTo>
                    <a:pt x="4961598" y="1884794"/>
                  </a:lnTo>
                  <a:lnTo>
                    <a:pt x="4961433" y="1884959"/>
                  </a:lnTo>
                  <a:lnTo>
                    <a:pt x="4961280" y="1885099"/>
                  </a:lnTo>
                  <a:lnTo>
                    <a:pt x="20294" y="1885099"/>
                  </a:lnTo>
                  <a:lnTo>
                    <a:pt x="20142" y="1884972"/>
                  </a:lnTo>
                  <a:lnTo>
                    <a:pt x="19672" y="1884489"/>
                  </a:lnTo>
                  <a:lnTo>
                    <a:pt x="19050" y="1883867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887677"/>
                  </a:lnTo>
                  <a:lnTo>
                    <a:pt x="2222" y="1893036"/>
                  </a:lnTo>
                  <a:lnTo>
                    <a:pt x="7150" y="1897964"/>
                  </a:lnTo>
                  <a:lnTo>
                    <a:pt x="11125" y="1901926"/>
                  </a:lnTo>
                  <a:lnTo>
                    <a:pt x="16484" y="1904149"/>
                  </a:lnTo>
                  <a:lnTo>
                    <a:pt x="4965090" y="1904149"/>
                  </a:lnTo>
                  <a:lnTo>
                    <a:pt x="4970462" y="1901926"/>
                  </a:lnTo>
                  <a:lnTo>
                    <a:pt x="4974425" y="1897964"/>
                  </a:lnTo>
                  <a:lnTo>
                    <a:pt x="4974907" y="1897481"/>
                  </a:lnTo>
                  <a:lnTo>
                    <a:pt x="4979352" y="1893036"/>
                  </a:lnTo>
                  <a:lnTo>
                    <a:pt x="4981575" y="1887677"/>
                  </a:lnTo>
                  <a:lnTo>
                    <a:pt x="4981575" y="75361"/>
                  </a:lnTo>
                  <a:close/>
                </a:path>
              </a:pathLst>
            </a:custGeom>
            <a:solidFill>
              <a:srgbClr val="D9CD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638175" y="4019549"/>
              <a:ext cx="4981575" cy="76200"/>
            </a:xfrm>
            <a:custGeom>
              <a:rect b="b" l="l" r="r" t="t"/>
              <a:pathLst>
                <a:path extrusionOk="0" h="76200" w="4981575">
                  <a:moveTo>
                    <a:pt x="4961826" y="0"/>
                  </a:moveTo>
                  <a:lnTo>
                    <a:pt x="19749" y="0"/>
                  </a:lnTo>
                  <a:lnTo>
                    <a:pt x="16847" y="584"/>
                  </a:lnTo>
                  <a:lnTo>
                    <a:pt x="0" y="19748"/>
                  </a:lnTo>
                  <a:lnTo>
                    <a:pt x="0" y="76200"/>
                  </a:lnTo>
                  <a:lnTo>
                    <a:pt x="4981575" y="76200"/>
                  </a:lnTo>
                  <a:lnTo>
                    <a:pt x="4981575" y="19748"/>
                  </a:lnTo>
                  <a:lnTo>
                    <a:pt x="4961826" y="0"/>
                  </a:lnTo>
                  <a:close/>
                </a:path>
              </a:pathLst>
            </a:custGeom>
            <a:solidFill>
              <a:srgbClr val="3750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4" name="Google Shape;174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60471" y="3762374"/>
              <a:ext cx="542925" cy="552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" name="Google Shape;175;p9"/>
          <p:cNvSpPr txBox="1"/>
          <p:nvPr/>
        </p:nvSpPr>
        <p:spPr>
          <a:xfrm>
            <a:off x="826095" y="4478337"/>
            <a:ext cx="421830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A362F"/>
                </a:solidFill>
                <a:latin typeface="Cambria"/>
                <a:ea typeface="Cambria"/>
                <a:cs typeface="Cambria"/>
                <a:sym typeface="Cambria"/>
              </a:rPr>
              <a:t>No ajustar el plan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8000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Ignorar los datos de verificación y no realizar los ajustes necesarios anula el propósito de la iteración.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76" name="Google Shape;176;p9"/>
          <p:cNvGrpSpPr/>
          <p:nvPr/>
        </p:nvGrpSpPr>
        <p:grpSpPr>
          <a:xfrm>
            <a:off x="5810237" y="3762374"/>
            <a:ext cx="4981588" cy="2181440"/>
            <a:chOff x="5810237" y="3762374"/>
            <a:chExt cx="4981588" cy="2181440"/>
          </a:xfrm>
        </p:grpSpPr>
        <p:sp>
          <p:nvSpPr>
            <p:cNvPr id="177" name="Google Shape;177;p9"/>
            <p:cNvSpPr/>
            <p:nvPr/>
          </p:nvSpPr>
          <p:spPr>
            <a:xfrm>
              <a:off x="5819775" y="4038599"/>
              <a:ext cx="4962525" cy="1895475"/>
            </a:xfrm>
            <a:custGeom>
              <a:rect b="b" l="l" r="r" t="t"/>
              <a:pathLst>
                <a:path extrusionOk="0" h="1895475" w="4962525">
                  <a:moveTo>
                    <a:pt x="4900231" y="0"/>
                  </a:moveTo>
                  <a:lnTo>
                    <a:pt x="62293" y="0"/>
                  </a:lnTo>
                  <a:lnTo>
                    <a:pt x="57962" y="495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1882228"/>
                  </a:lnTo>
                  <a:lnTo>
                    <a:pt x="0" y="1883984"/>
                  </a:lnTo>
                  <a:lnTo>
                    <a:pt x="11493" y="1895473"/>
                  </a:lnTo>
                  <a:lnTo>
                    <a:pt x="4951031" y="1895473"/>
                  </a:lnTo>
                  <a:lnTo>
                    <a:pt x="4962525" y="1883984"/>
                  </a:lnTo>
                  <a:lnTo>
                    <a:pt x="4962525" y="71196"/>
                  </a:lnTo>
                  <a:lnTo>
                    <a:pt x="4948847" y="29705"/>
                  </a:lnTo>
                  <a:lnTo>
                    <a:pt x="4917325" y="3886"/>
                  </a:lnTo>
                  <a:lnTo>
                    <a:pt x="4904562" y="495"/>
                  </a:lnTo>
                  <a:lnTo>
                    <a:pt x="4900231" y="0"/>
                  </a:lnTo>
                  <a:close/>
                </a:path>
              </a:pathLst>
            </a:custGeom>
            <a:solidFill>
              <a:srgbClr val="FEF5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810237" y="4039450"/>
              <a:ext cx="4981575" cy="1904364"/>
            </a:xfrm>
            <a:custGeom>
              <a:rect b="b" l="l" r="r" t="t"/>
              <a:pathLst>
                <a:path extrusionOk="0" h="1904364" w="4981575">
                  <a:moveTo>
                    <a:pt x="4981575" y="75361"/>
                  </a:moveTo>
                  <a:lnTo>
                    <a:pt x="4968748" y="33020"/>
                  </a:lnTo>
                  <a:lnTo>
                    <a:pt x="4934534" y="4965"/>
                  </a:lnTo>
                  <a:lnTo>
                    <a:pt x="4916144" y="0"/>
                  </a:lnTo>
                  <a:lnTo>
                    <a:pt x="4920246" y="1092"/>
                  </a:lnTo>
                  <a:lnTo>
                    <a:pt x="4934242" y="8826"/>
                  </a:lnTo>
                  <a:lnTo>
                    <a:pt x="4958169" y="46202"/>
                  </a:lnTo>
                  <a:lnTo>
                    <a:pt x="4962525" y="75361"/>
                  </a:lnTo>
                  <a:lnTo>
                    <a:pt x="4962525" y="1883867"/>
                  </a:lnTo>
                  <a:lnTo>
                    <a:pt x="4961915" y="1884476"/>
                  </a:lnTo>
                  <a:lnTo>
                    <a:pt x="4961433" y="1884959"/>
                  </a:lnTo>
                  <a:lnTo>
                    <a:pt x="4961280" y="1885099"/>
                  </a:lnTo>
                  <a:lnTo>
                    <a:pt x="20294" y="1885099"/>
                  </a:lnTo>
                  <a:lnTo>
                    <a:pt x="20154" y="1884959"/>
                  </a:lnTo>
                  <a:lnTo>
                    <a:pt x="19672" y="1884476"/>
                  </a:lnTo>
                  <a:lnTo>
                    <a:pt x="19050" y="1883867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887677"/>
                  </a:lnTo>
                  <a:lnTo>
                    <a:pt x="2222" y="1893036"/>
                  </a:lnTo>
                  <a:lnTo>
                    <a:pt x="6667" y="1897481"/>
                  </a:lnTo>
                  <a:lnTo>
                    <a:pt x="7150" y="1897964"/>
                  </a:lnTo>
                  <a:lnTo>
                    <a:pt x="11112" y="1901926"/>
                  </a:lnTo>
                  <a:lnTo>
                    <a:pt x="16484" y="1904149"/>
                  </a:lnTo>
                  <a:lnTo>
                    <a:pt x="4965090" y="1904149"/>
                  </a:lnTo>
                  <a:lnTo>
                    <a:pt x="4970462" y="1901926"/>
                  </a:lnTo>
                  <a:lnTo>
                    <a:pt x="4974425" y="1897964"/>
                  </a:lnTo>
                  <a:lnTo>
                    <a:pt x="4974907" y="1897481"/>
                  </a:lnTo>
                  <a:lnTo>
                    <a:pt x="4979352" y="1893036"/>
                  </a:lnTo>
                  <a:lnTo>
                    <a:pt x="4981575" y="1887677"/>
                  </a:lnTo>
                  <a:lnTo>
                    <a:pt x="4981575" y="75361"/>
                  </a:lnTo>
                  <a:close/>
                </a:path>
              </a:pathLst>
            </a:custGeom>
            <a:solidFill>
              <a:srgbClr val="D9CD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5810250" y="4019549"/>
              <a:ext cx="4981575" cy="76200"/>
            </a:xfrm>
            <a:custGeom>
              <a:rect b="b" l="l" r="r" t="t"/>
              <a:pathLst>
                <a:path extrusionOk="0" h="76200" w="4981575">
                  <a:moveTo>
                    <a:pt x="4961826" y="0"/>
                  </a:moveTo>
                  <a:lnTo>
                    <a:pt x="19748" y="0"/>
                  </a:lnTo>
                  <a:lnTo>
                    <a:pt x="16852" y="584"/>
                  </a:lnTo>
                  <a:lnTo>
                    <a:pt x="0" y="19748"/>
                  </a:lnTo>
                  <a:lnTo>
                    <a:pt x="0" y="76200"/>
                  </a:lnTo>
                  <a:lnTo>
                    <a:pt x="4981575" y="76200"/>
                  </a:lnTo>
                  <a:lnTo>
                    <a:pt x="4981575" y="19748"/>
                  </a:lnTo>
                  <a:lnTo>
                    <a:pt x="4961826" y="0"/>
                  </a:lnTo>
                  <a:close/>
                </a:path>
              </a:pathLst>
            </a:custGeom>
            <a:solidFill>
              <a:srgbClr val="3750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0" name="Google Shape;180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23021" y="3762374"/>
              <a:ext cx="552450" cy="552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9"/>
          <p:cNvSpPr txBox="1"/>
          <p:nvPr/>
        </p:nvSpPr>
        <p:spPr>
          <a:xfrm>
            <a:off x="5994603" y="4478337"/>
            <a:ext cx="438086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A362F"/>
                </a:solidFill>
                <a:latin typeface="Cambria"/>
                <a:ea typeface="Cambria"/>
                <a:cs typeface="Cambria"/>
                <a:sym typeface="Cambria"/>
              </a:rPr>
              <a:t>Proceso único</a:t>
            </a:r>
            <a:endParaRPr sz="1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38000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A362F"/>
                </a:solidFill>
                <a:latin typeface="Trebuchet MS"/>
                <a:ea typeface="Trebuchet MS"/>
                <a:cs typeface="Trebuchet MS"/>
                <a:sym typeface="Trebuchet MS"/>
              </a:rPr>
              <a:t>Considerar el PDCA como un evento aislado y no como un proceso continuo y en constante evolución limita su impacto.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3"/>
            <a:ext cx="4286250" cy="6438645"/>
          </a:xfrm>
          <a:prstGeom prst="rect">
            <a:avLst/>
          </a:prstGeom>
          <a:noFill/>
          <a:ln>
            <a:noFill/>
          </a:ln>
        </p:spPr>
      </p:pic>
      <p:sp>
        <p:nvSpPr>
          <p:cNvPr descr="$PPTXTitle" id="187" name="Google Shape;187;p10"/>
          <p:cNvSpPr txBox="1"/>
          <p:nvPr>
            <p:ph type="title"/>
          </p:nvPr>
        </p:nvSpPr>
        <p:spPr>
          <a:xfrm>
            <a:off x="4911128" y="1797050"/>
            <a:ext cx="5170170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marR="508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PDCA, motor de la mejora continua</a:t>
            </a:r>
            <a:endParaRPr/>
          </a:p>
        </p:txBody>
      </p:sp>
      <p:sp>
        <p:nvSpPr>
          <p:cNvPr id="188" name="Google Shape;188;p10"/>
          <p:cNvSpPr txBox="1"/>
          <p:nvPr>
            <p:ph idx="1" type="body"/>
          </p:nvPr>
        </p:nvSpPr>
        <p:spPr>
          <a:xfrm>
            <a:off x="4911115" y="3090773"/>
            <a:ext cx="5829934" cy="148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508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Adoptar el ciclo PDCA es una apuesta estratégica por </a:t>
            </a:r>
            <a:r>
              <a:rPr lang="en-US">
                <a:solidFill>
                  <a:srgbClr val="37502F"/>
                </a:solidFill>
              </a:rPr>
              <a:t>procesos más eficientes y adaptativos</a:t>
            </a:r>
            <a:r>
              <a:rPr lang="en-US"/>
              <a:t>, una inversión que rinde dividendos en innovación y calidad sostenible. Su </a:t>
            </a:r>
            <a:r>
              <a:rPr lang="en-US">
                <a:solidFill>
                  <a:srgbClr val="37502F"/>
                </a:solidFill>
              </a:rPr>
              <a:t>ciclo infinito </a:t>
            </a:r>
            <a:r>
              <a:rPr lang="en-US"/>
              <a:t>no solo optimiza lo existente, sino que impulsa la organización hacia nuevos horizontes. ¡Empieza hoy a planificar, hacer, verificar y actuar para transformar tu organización!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WP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2026-08-28T18:55:36Z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2025-08-13T21:00:00Z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2026-08-27T21:00:00Z</vt:filetime>
  </property>
  <property fmtid="{D5CDD505-2E9C-101B-9397-08002B2CF9AE}" pid="6" name="Producer">
    <vt:lpwstr>GPL Ghostscript 9.56.1</vt:lpwstr>
  </property>
  <property fmtid="{D5CDD505-2E9C-101B-9397-08002B2CF9AE}" pid="7" name="KSOProductBuildVer">
    <vt:lpwstr>3082-12.1.0.28485</vt:lpwstr>
  </property>
  <property fmtid="{D5CDD505-2E9C-101B-9397-08002B2CF9AE}" pid="8" name="ICV">
    <vt:lpwstr>0242EBEC974F4CD8A887C1E0A2F79421_13</vt:lpwstr>
  </property>
</Properties>
</file>